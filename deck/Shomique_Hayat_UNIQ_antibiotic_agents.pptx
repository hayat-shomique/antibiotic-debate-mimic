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the three questions a clinician asks first.</a:t>
            </a:r>
          </a:p>
          <a:p>
            <a:r>
              <a:t>Which bugs: 20 organisms, 126 of 200 are Escherichia Coli, and every case is Gram negative.</a:t>
            </a:r>
          </a:p>
          <a:p>
            <a:r>
              <a:t>That is a property of the frame, and it means five of my seventeen agents are Gram-positive drugs</a:t>
            </a:r>
          </a:p>
          <a:p>
            <a:r>
              <a:t>that could never be right here.</a:t>
            </a:r>
          </a:p>
          <a:p>
            <a:r>
              <a:t>Intermediate: 3.0 per cent of verdict rows. I do not fold it into either bucket. The case gets</a:t>
            </a:r>
          </a:p>
          <a:p>
            <a:r>
              <a:t>its own class and leaves the numerator, because calling Intermediate a success or a failure would be</a:t>
            </a:r>
          </a:p>
          <a:p>
            <a:r>
              <a:t>a decision I am not entitled to make.</a:t>
            </a:r>
          </a:p>
          <a:p>
            <a:r>
              <a:t>Undetermined: 40.6 per cent of case-drug pairs, because the lab never tested that drug against that</a:t>
            </a:r>
          </a:p>
          <a:p>
            <a:r>
              <a:t>patient's organism. That is the biggest constraint in the whole design.</a:t>
            </a:r>
          </a:p>
          <a:p>
            <a:r>
              <a:t>And the ceiling is 99.5 per cent, so my 87.5 baseline was not bumping against a limit. There were about</a:t>
            </a:r>
          </a:p>
          <a:p>
            <a:r>
              <a:t>twelve points on the table and the model did not take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13</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87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2024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baseline is a constant</a:t>
            </a:r>
          </a:p>
        </p:txBody>
      </p:sp>
      <p:sp>
        <p:nvSpPr>
          <p:cNvPr id="6" name="TextBox 5"/>
          <p:cNvSpPr txBox="1"/>
          <p:nvPr/>
        </p:nvSpPr>
        <p:spPr>
          <a:xfrm>
            <a:off x="658368"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278892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primary test runs on 180 to 185 of 200</a:t>
            </a:r>
          </a:p>
        </p:txBody>
      </p:sp>
      <p:sp>
        <p:nvSpPr>
          <p:cNvPr id="9" name="TextBox 8"/>
          <p:cNvSpPr txBox="1"/>
          <p:nvPr/>
        </p:nvSpPr>
        <p:spPr>
          <a:xfrm>
            <a:off x="658368"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365760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confidence binary cannot fail</a:t>
            </a:r>
          </a:p>
        </p:txBody>
      </p:sp>
      <p:sp>
        <p:nvSpPr>
          <p:cNvPr id="12" name="TextBox 11"/>
          <p:cNvSpPr txBox="1"/>
          <p:nvPr/>
        </p:nvSpPr>
        <p:spPr>
          <a:xfrm>
            <a:off x="658368"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4526279"/>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Clustering, not independence</a:t>
            </a:r>
          </a:p>
        </p:txBody>
      </p:sp>
      <p:sp>
        <p:nvSpPr>
          <p:cNvPr id="15" name="TextBox 14"/>
          <p:cNvSpPr txBox="1"/>
          <p:nvPr/>
        </p:nvSpPr>
        <p:spPr>
          <a:xfrm>
            <a:off x="658368"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2024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counterpart is scripted, not alive</a:t>
            </a:r>
          </a:p>
        </p:txBody>
      </p:sp>
      <p:sp>
        <p:nvSpPr>
          <p:cNvPr id="18" name="TextBox 17"/>
          <p:cNvSpPr txBox="1"/>
          <p:nvPr/>
        </p:nvSpPr>
        <p:spPr>
          <a:xfrm>
            <a:off x="6278727"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278892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superseded arm is still short</a:t>
            </a:r>
          </a:p>
        </p:txBody>
      </p:sp>
      <p:sp>
        <p:nvSpPr>
          <p:cNvPr id="21" name="TextBox 20"/>
          <p:cNvSpPr txBox="1"/>
          <p:nvPr/>
        </p:nvSpPr>
        <p:spPr>
          <a:xfrm>
            <a:off x="6278727"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plausible-wrong seeding arm holds 312 of a planned 312 exposures. It is superseded by the drug-matched design, carries no result in this deck, and is completing now.</a:t>
            </a:r>
          </a:p>
        </p:txBody>
      </p:sp>
      <p:sp>
        <p:nvSpPr>
          <p:cNvPr id="22" name="Rectangle 21"/>
          <p:cNvSpPr/>
          <p:nvPr/>
        </p:nvSpPr>
        <p:spPr>
          <a:xfrm>
            <a:off x="6278727" y="365760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Every case is Gram negative</a:t>
            </a:r>
          </a:p>
        </p:txBody>
      </p:sp>
      <p:sp>
        <p:nvSpPr>
          <p:cNvPr id="24" name="TextBox 23"/>
          <p:cNvSpPr txBox="1"/>
          <p:nvPr/>
        </p:nvSpPr>
        <p:spPr>
          <a:xfrm>
            <a:off x="6278727"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All 200 cases, 20 organisms, 126 of them Escherichia Coli. Five of the seventeen formulary agents are Gram-positive drugs that can never be adequate here, and the Gram-positive half of bacteraemia is untested.</a:t>
            </a:r>
          </a:p>
        </p:txBody>
      </p:sp>
      <p:sp>
        <p:nvSpPr>
          <p:cNvPr id="25" name="Rectangle 24"/>
          <p:cNvSpPr/>
          <p:nvPr/>
        </p:nvSpPr>
        <p:spPr>
          <a:xfrm>
            <a:off x="6278727" y="4526279"/>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4B checkpoint, run locally</a:t>
            </a:r>
          </a:p>
        </p:txBody>
      </p:sp>
      <p:sp>
        <p:nvSpPr>
          <p:cNvPr id="27" name="TextBox 26"/>
          <p:cNvSpPr txBox="1"/>
          <p:nvPr/>
        </p:nvSpPr>
        <p:spPr>
          <a:xfrm>
            <a:off x="6278727"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MIMIC-IV is credentialed, so no record-level data may reach a hosted service. Findings are scoped to these checkpoints, not to language models generally.</a:t>
            </a:r>
          </a:p>
        </p:txBody>
      </p:sp>
      <p:sp>
        <p:nvSpPr>
          <p:cNvPr id="28" name="Rectangle 27"/>
          <p:cNvSpPr/>
          <p:nvPr/>
        </p:nvSpPr>
        <p:spPr>
          <a:xfrm>
            <a:off x="6278727" y="539496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550468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No clinician has reviewed this design</a:t>
            </a:r>
          </a:p>
        </p:txBody>
      </p:sp>
      <p:sp>
        <p:nvSpPr>
          <p:cNvPr id="30" name="TextBox 29"/>
          <p:cNvSpPr txBox="1"/>
          <p:nvPr/>
        </p:nvSpPr>
        <p:spPr>
          <a:xfrm>
            <a:off x="6278727" y="577900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31" name="Rectangle 3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3" name="TextBox 3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57/69 = 82.6% of INADEQUATE entrants   held 311/312 = 99.7%</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actually grew, and what the panel could not answer</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first three questions a clinician asks, computed by analysis/cohort_composition.py.</a:t>
            </a:r>
          </a:p>
        </p:txBody>
      </p:sp>
      <p:sp>
        <p:nvSpPr>
          <p:cNvPr id="5" name="TextBox 4"/>
          <p:cNvSpPr txBox="1"/>
          <p:nvPr/>
        </p:nvSpPr>
        <p:spPr>
          <a:xfrm>
            <a:off x="658368" y="2377440"/>
            <a:ext cx="293526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ORGANISM</a:t>
            </a:r>
          </a:p>
        </p:txBody>
      </p:sp>
      <p:sp>
        <p:nvSpPr>
          <p:cNvPr id="6" name="TextBox 5"/>
          <p:cNvSpPr txBox="1"/>
          <p:nvPr/>
        </p:nvSpPr>
        <p:spPr>
          <a:xfrm>
            <a:off x="3703356" y="2377440"/>
            <a:ext cx="86901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a:t>
            </a:r>
          </a:p>
        </p:txBody>
      </p:sp>
      <p:sp>
        <p:nvSpPr>
          <p:cNvPr id="7" name="TextBox 6"/>
          <p:cNvSpPr txBox="1"/>
          <p:nvPr/>
        </p:nvSpPr>
        <p:spPr>
          <a:xfrm>
            <a:off x="4682102" y="2377440"/>
            <a:ext cx="1304016"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GRAM</a:t>
            </a:r>
          </a:p>
        </p:txBody>
      </p:sp>
      <p:sp>
        <p:nvSpPr>
          <p:cNvPr id="8" name="Rectangle 7"/>
          <p:cNvSpPr/>
          <p:nvPr/>
        </p:nvSpPr>
        <p:spPr>
          <a:xfrm>
            <a:off x="658368" y="2761488"/>
            <a:ext cx="543747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44368"/>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Escherichia Coli</a:t>
            </a:r>
          </a:p>
        </p:txBody>
      </p:sp>
      <p:sp>
        <p:nvSpPr>
          <p:cNvPr id="10" name="TextBox 9"/>
          <p:cNvSpPr txBox="1"/>
          <p:nvPr/>
        </p:nvSpPr>
        <p:spPr>
          <a:xfrm>
            <a:off x="3703356" y="2944368"/>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126</a:t>
            </a:r>
          </a:p>
        </p:txBody>
      </p:sp>
      <p:sp>
        <p:nvSpPr>
          <p:cNvPr id="11" name="TextBox 10"/>
          <p:cNvSpPr txBox="1"/>
          <p:nvPr/>
        </p:nvSpPr>
        <p:spPr>
          <a:xfrm>
            <a:off x="4682102" y="2944368"/>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2" name="Rectangle 11"/>
          <p:cNvSpPr/>
          <p:nvPr/>
        </p:nvSpPr>
        <p:spPr>
          <a:xfrm>
            <a:off x="658368" y="3218688"/>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91840"/>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Pneumoniae</a:t>
            </a:r>
          </a:p>
        </p:txBody>
      </p:sp>
      <p:sp>
        <p:nvSpPr>
          <p:cNvPr id="14" name="TextBox 13"/>
          <p:cNvSpPr txBox="1"/>
          <p:nvPr/>
        </p:nvSpPr>
        <p:spPr>
          <a:xfrm>
            <a:off x="3703356" y="3291840"/>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29</a:t>
            </a:r>
          </a:p>
        </p:txBody>
      </p:sp>
      <p:sp>
        <p:nvSpPr>
          <p:cNvPr id="15" name="TextBox 14"/>
          <p:cNvSpPr txBox="1"/>
          <p:nvPr/>
        </p:nvSpPr>
        <p:spPr>
          <a:xfrm>
            <a:off x="4682102" y="3291840"/>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6" name="Rectangle 15"/>
          <p:cNvSpPr/>
          <p:nvPr/>
        </p:nvSpPr>
        <p:spPr>
          <a:xfrm>
            <a:off x="658368" y="3566160"/>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39312"/>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Serratia Marcescens</a:t>
            </a:r>
          </a:p>
        </p:txBody>
      </p:sp>
      <p:sp>
        <p:nvSpPr>
          <p:cNvPr id="18" name="TextBox 17"/>
          <p:cNvSpPr txBox="1"/>
          <p:nvPr/>
        </p:nvSpPr>
        <p:spPr>
          <a:xfrm>
            <a:off x="3703356" y="3639312"/>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14</a:t>
            </a:r>
          </a:p>
        </p:txBody>
      </p:sp>
      <p:sp>
        <p:nvSpPr>
          <p:cNvPr id="19" name="TextBox 18"/>
          <p:cNvSpPr txBox="1"/>
          <p:nvPr/>
        </p:nvSpPr>
        <p:spPr>
          <a:xfrm>
            <a:off x="4682102" y="3639312"/>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0" name="Rectangle 19"/>
          <p:cNvSpPr/>
          <p:nvPr/>
        </p:nvSpPr>
        <p:spPr>
          <a:xfrm>
            <a:off x="658368" y="3913632"/>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86783"/>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Oxytoca</a:t>
            </a:r>
          </a:p>
        </p:txBody>
      </p:sp>
      <p:sp>
        <p:nvSpPr>
          <p:cNvPr id="22" name="TextBox 21"/>
          <p:cNvSpPr txBox="1"/>
          <p:nvPr/>
        </p:nvSpPr>
        <p:spPr>
          <a:xfrm>
            <a:off x="3703356" y="3986783"/>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3" name="TextBox 22"/>
          <p:cNvSpPr txBox="1"/>
          <p:nvPr/>
        </p:nvSpPr>
        <p:spPr>
          <a:xfrm>
            <a:off x="4682102" y="3986783"/>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4" name="Rectangle 23"/>
          <p:cNvSpPr/>
          <p:nvPr/>
        </p:nvSpPr>
        <p:spPr>
          <a:xfrm>
            <a:off x="658368" y="4261104"/>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34255"/>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Cloacae Complex</a:t>
            </a:r>
          </a:p>
        </p:txBody>
      </p:sp>
      <p:sp>
        <p:nvSpPr>
          <p:cNvPr id="26" name="TextBox 25"/>
          <p:cNvSpPr txBox="1"/>
          <p:nvPr/>
        </p:nvSpPr>
        <p:spPr>
          <a:xfrm>
            <a:off x="3703356" y="4334255"/>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7" name="TextBox 26"/>
          <p:cNvSpPr txBox="1"/>
          <p:nvPr/>
        </p:nvSpPr>
        <p:spPr>
          <a:xfrm>
            <a:off x="4682102" y="4334255"/>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8" name="Rectangle 27"/>
          <p:cNvSpPr/>
          <p:nvPr/>
        </p:nvSpPr>
        <p:spPr>
          <a:xfrm>
            <a:off x="658368" y="4608576"/>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681727"/>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Aerogenes</a:t>
            </a:r>
          </a:p>
        </p:txBody>
      </p:sp>
      <p:sp>
        <p:nvSpPr>
          <p:cNvPr id="30" name="TextBox 29"/>
          <p:cNvSpPr txBox="1"/>
          <p:nvPr/>
        </p:nvSpPr>
        <p:spPr>
          <a:xfrm>
            <a:off x="3703356" y="4681727"/>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31" name="TextBox 30"/>
          <p:cNvSpPr txBox="1"/>
          <p:nvPr/>
        </p:nvSpPr>
        <p:spPr>
          <a:xfrm>
            <a:off x="4682102" y="4681727"/>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32" name="TextBox 31"/>
          <p:cNvSpPr txBox="1"/>
          <p:nvPr/>
        </p:nvSpPr>
        <p:spPr>
          <a:xfrm>
            <a:off x="658368" y="4956048"/>
            <a:ext cx="5437479"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20 distinct organisms across 200 cases. Every case is Gram negative, which is a property of the frame rather than of the sample.</a:t>
            </a:r>
          </a:p>
        </p:txBody>
      </p:sp>
      <p:sp>
        <p:nvSpPr>
          <p:cNvPr id="33" name="Rectangle 32"/>
          <p:cNvSpPr/>
          <p:nvPr/>
        </p:nvSpPr>
        <p:spPr>
          <a:xfrm>
            <a:off x="6530845" y="2377440"/>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0845" y="2523744"/>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Intermediate is its own class</a:t>
            </a:r>
          </a:p>
        </p:txBody>
      </p:sp>
      <p:sp>
        <p:nvSpPr>
          <p:cNvPr id="35" name="TextBox 34"/>
          <p:cNvSpPr txBox="1"/>
          <p:nvPr/>
        </p:nvSpPr>
        <p:spPr>
          <a:xfrm>
            <a:off x="6530845" y="2852928"/>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panel returns S, I and R. 73 of 2472 verdict rows are Intermediate, 3.0%. It is neither covering nor failing: the case scores INTERMEDIATE_ONLY and leaves the adequacy numerator and the paired test rather than being folded either way.</a:t>
            </a:r>
          </a:p>
        </p:txBody>
      </p:sp>
      <p:sp>
        <p:nvSpPr>
          <p:cNvPr id="36" name="Rectangle 35"/>
          <p:cNvSpPr/>
          <p:nvPr/>
        </p:nvSpPr>
        <p:spPr>
          <a:xfrm>
            <a:off x="6530845" y="3675887"/>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0845" y="3822191"/>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Two fifths of pairs cannot be scored</a:t>
            </a:r>
          </a:p>
        </p:txBody>
      </p:sp>
      <p:sp>
        <p:nvSpPr>
          <p:cNvPr id="38" name="TextBox 37"/>
          <p:cNvSpPr txBox="1"/>
          <p:nvPr/>
        </p:nvSpPr>
        <p:spPr>
          <a:xfrm>
            <a:off x="6530845" y="4151375"/>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1380 of 3400 case-drug pairs are UNDETERMINED because the laboratory never tested that agent against at least one isolate, 40.6%. That is what the laboratory chose to test, not a property of the model, and it is the largest constraint on this design.</a:t>
            </a:r>
          </a:p>
        </p:txBody>
      </p:sp>
      <p:sp>
        <p:nvSpPr>
          <p:cNvPr id="39" name="Rectangle 38"/>
          <p:cNvSpPr/>
          <p:nvPr/>
        </p:nvSpPr>
        <p:spPr>
          <a:xfrm>
            <a:off x="6530845" y="4974336"/>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0845" y="5120640"/>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The ceiling, so the baseline reads against something</a:t>
            </a:r>
          </a:p>
        </p:txBody>
      </p:sp>
      <p:sp>
        <p:nvSpPr>
          <p:cNvPr id="41" name="TextBox 40"/>
          <p:cNvSpPr txBox="1"/>
          <p:nvPr/>
        </p:nvSpPr>
        <p:spPr>
          <a:xfrm>
            <a:off x="6530845" y="5449823"/>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Perfect per-patient choice from the formulary reaches 199 of 200 = 99.5%. The 87.5% baseline is not near a ceiling: about twelve points of headroom existed and were not taken.</a:t>
            </a:r>
          </a:p>
        </p:txBody>
      </p:sp>
      <p:sp>
        <p:nvSpPr>
          <p:cNvPr id="42" name="Rectangle 4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results/cohort_composition.json  ·  analysis/cohort_composition.py  ·  aggregates only, no case-level rows leave the machine</a:t>
            </a:r>
          </a:p>
        </p:txBody>
      </p:sp>
      <p:sp>
        <p:nvSpPr>
          <p:cNvPr id="44" name="TextBox 4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