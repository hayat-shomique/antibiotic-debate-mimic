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Four outcome classes, not two, because when the laboratory never tested a drug against that organism</a:t>
            </a:r>
          </a:p>
          <a:p>
            <a:r>
              <a:t>the honest answer is undetermined, and pretending otherwise would inflate every number I am about to</a:t>
            </a:r>
          </a:p>
          <a:p>
            <a:r>
              <a:t>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test the protocol pre-specified before any model ran: an exact binomial on the cases</a:t>
            </a:r>
          </a:p>
          <a:p>
            <a:r>
              <a:t>that change under exactly one of the neutral control and the pressure condition.</a:t>
            </a:r>
          </a:p>
          <a:p>
            <a:r>
              <a:t>c is zero. Not once in 70 cases did the model change its recommendation because a neutral</a:t>
            </a:r>
          </a:p>
          <a:p>
            <a:r>
              <a:t>interlocutor spoke to it. Under unsupported pressure it changed in 63 to 70 of the same cases.</a:t>
            </a:r>
          </a:p>
          <a:p>
            <a:r>
              <a:t>p is on the order of ten to the minus twenty-one.</a:t>
            </a:r>
          </a:p>
          <a:p>
            <a:r>
              <a:t>The honest part: this runs on 70 of 200 cases. The rest drop out because some condition returns</a:t>
            </a:r>
          </a:p>
          <a:p>
            <a:r>
              <a:t>undetermined, and I would rather show you the attrition than a denominator I like better.</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four-cell classification my supervisor specified. Correct means the recommendation covers</a:t>
            </a:r>
          </a:p>
          <a:p>
            <a:r>
              <a:t>the organism the laboratory identified.</a:t>
            </a:r>
          </a:p>
          <a:p>
            <a:r>
              <a:t>Read the harmful revision column: 0.0 to 1.5 per cent. The model folds constantly and</a:t>
            </a:r>
          </a:p>
          <a:p>
            <a:r>
              <a:t>almost never lands on something that fails the patient.</a:t>
            </a:r>
          </a:p>
          <a:p>
            <a:r>
              <a:t>If I had stopped here, my conclusion would have been that sycophancy in this setting is harmless.</a:t>
            </a:r>
          </a:p>
          <a:p>
            <a:r>
              <a:t>That would have been wrong, and the reason it would have been wrong is on the next slide, in a</a:t>
            </a:r>
          </a:p>
          <a:p>
            <a:r>
              <a:t>sentence my supervisor wrote before any of this ran: a model recommending extremely broad therapy to</a:t>
            </a:r>
          </a:p>
          <a:p>
            <a:r>
              <a:t>everyone could achieve high coverage while still making poor stewardship decisions.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model, same cases, different endpoint. Instead of asking whether the answer was right, ask what</a:t>
            </a:r>
          </a:p>
          <a:p>
            <a:r>
              <a:t>kind of answer it was.</a:t>
            </a:r>
          </a:p>
          <a:p>
            <a:r>
              <a:t>At baseline, zero carbapenems. Under a sentence that contains no clinical information whatsoever,</a:t>
            </a:r>
          </a:p>
          <a:p>
            <a:r>
              <a:t>261 of 312 exposures, 83.7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stated as design properties rather than as apology, because most of them were</a:t>
            </a:r>
          </a:p>
          <a:p>
            <a:r>
              <a:t>choices.</a:t>
            </a:r>
          </a:p>
          <a:p>
            <a:r>
              <a:t>The one I want to say out loud: the primary test runs on 70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debate makes the decision worse,</a:t>
            </a:r>
          </a:p>
          <a:p>
            <a:r>
              <a:t>evidence makes it better, and only one of those is visible if 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303F"/>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C64B3E"/>
                </a:solidFill>
                <a:latin typeface="Helvetica Neue"/>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Helvetica Neue"/>
              </a:rPr>
              <a:t>Two clinical LLM agents, one antibiotic,
and a laboratory as referee</a:t>
            </a:r>
          </a:p>
        </p:txBody>
      </p:sp>
      <p:sp>
        <p:nvSpPr>
          <p:cNvPr id="4" name="Rectangle 3"/>
          <p:cNvSpPr/>
          <p:nvPr/>
        </p:nvSpPr>
        <p:spPr>
          <a:xfrm>
            <a:off x="658368" y="3273552"/>
            <a:ext cx="1463040" cy="25603"/>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7BAC4"/>
                </a:solidFill>
                <a:latin typeface="Helvetica Neue"/>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Helvetica Neue"/>
              </a:rPr>
              <a:t>Shomique Hayat</a:t>
            </a:r>
            <a:r>
              <a:rPr sz="1500" b="0" i="0">
                <a:solidFill>
                  <a:srgbClr val="A7BAC4"/>
                </a:solidFill>
                <a:latin typeface="Helvetica Neue"/>
              </a:rPr>
              <a:t>   supervised by Prof. Tingting Zhu   ·   6 July to 20 August 2026</a:t>
            </a:r>
          </a:p>
        </p:txBody>
      </p:sp>
      <p:sp>
        <p:nvSpPr>
          <p:cNvPr id="7" name="Rectangle 6"/>
          <p:cNvSpPr/>
          <p:nvPr/>
        </p:nvSpPr>
        <p:spPr>
          <a:xfrm>
            <a:off x="658368" y="523036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Helvetica Neue"/>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MIMIC-IV bloodstream
infection cases</a:t>
            </a:r>
          </a:p>
        </p:txBody>
      </p:sp>
      <p:sp>
        <p:nvSpPr>
          <p:cNvPr id="10" name="Rectangle 9"/>
          <p:cNvSpPr/>
          <p:nvPr/>
        </p:nvSpPr>
        <p:spPr>
          <a:xfrm>
            <a:off x="3445687" y="523036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Helvetica Neue"/>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ordering-runs, each case
seen in both directions</a:t>
            </a:r>
          </a:p>
        </p:txBody>
      </p:sp>
      <p:sp>
        <p:nvSpPr>
          <p:cNvPr id="13" name="Rectangle 12"/>
          <p:cNvSpPr/>
          <p:nvPr/>
        </p:nvSpPr>
        <p:spPr>
          <a:xfrm>
            <a:off x="6233007" y="523036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Helvetica Neue"/>
              </a:rPr>
              <a:t>11</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experimental arms,
every exposure deduplicated</a:t>
            </a:r>
          </a:p>
        </p:txBody>
      </p:sp>
      <p:sp>
        <p:nvSpPr>
          <p:cNvPr id="16" name="Rectangle 15"/>
          <p:cNvSpPr/>
          <p:nvPr/>
        </p:nvSpPr>
        <p:spPr>
          <a:xfrm>
            <a:off x="9020327" y="523036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Helvetica Neue"/>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7BAC4"/>
                </a:solidFill>
                <a:latin typeface="Helvetica Neue"/>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In bloodstream infection the empiric drug is given when cultures are sent. The laboratory answers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2303F"/>
                </a:solidFill>
                <a:latin typeface="Helvetica Neue"/>
              </a:rPr>
              <a:t>The gap is the study. </a:t>
            </a:r>
            <a:r>
              <a:rPr sz="1450" b="0" i="0">
                <a:solidFill>
                  <a:srgbClr val="6B7C85"/>
                </a:solidFill>
                <a:latin typeface="Helvetica Neue"/>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METHODS.md sections 1 and 2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The doctor is not the reference. The bacteria are.</a:t>
            </a:r>
          </a:p>
        </p:txBody>
      </p:sp>
      <p:sp>
        <p:nvSpPr>
          <p:cNvPr id="4" name="Rectangle 3"/>
          <p:cNvSpPr/>
          <p:nvPr/>
        </p:nvSpPr>
        <p:spPr>
          <a:xfrm>
            <a:off x="658368" y="1874519"/>
            <a:ext cx="50292" cy="123444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50976" y="1892807"/>
            <a:ext cx="5166359" cy="1234440"/>
          </a:xfrm>
          <a:prstGeom prst="rect">
            <a:avLst/>
          </a:prstGeom>
          <a:noFill/>
        </p:spPr>
        <p:txBody>
          <a:bodyPr wrap="square" anchor="t" lIns="0" rIns="0" tIns="0" bIns="0">
            <a:spAutoFit/>
          </a:bodyPr>
          <a:lstStyle/>
          <a:p>
            <a:pPr algn="l">
              <a:lnSpc>
                <a:spcPct val="130000"/>
              </a:lnSpc>
              <a:spcAft>
                <a:spcPts val="0"/>
              </a:spcAft>
            </a:pPr>
            <a:r>
              <a:rPr sz="1800" b="0" i="1">
                <a:solidFill>
                  <a:srgbClr val="12303F"/>
                </a:solidFill>
                <a:latin typeface="Helvetica Neue"/>
              </a:rPr>
              <a:t>“The doctor makes the right decision, that’s a huge assumption you make.”</a:t>
            </a:r>
          </a:p>
        </p:txBody>
      </p:sp>
      <p:sp>
        <p:nvSpPr>
          <p:cNvPr id="6" name="TextBox 5"/>
          <p:cNvSpPr txBox="1"/>
          <p:nvPr/>
        </p:nvSpPr>
        <p:spPr>
          <a:xfrm>
            <a:off x="950976" y="2834640"/>
            <a:ext cx="51663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6B7C85"/>
                </a:solidFill>
                <a:latin typeface="Helvetica Neue"/>
              </a:rPr>
              <a:t>Prof. Tingting Zhu, on the first version of this design</a:t>
            </a:r>
          </a:p>
        </p:txBody>
      </p:sp>
      <p:sp>
        <p:nvSpPr>
          <p:cNvPr id="7" name="TextBox 6"/>
          <p:cNvSpPr txBox="1"/>
          <p:nvPr/>
        </p:nvSpPr>
        <p:spPr>
          <a:xfrm>
            <a:off x="658368" y="3310128"/>
            <a:ext cx="5532120" cy="2011680"/>
          </a:xfrm>
          <a:prstGeom prst="rect">
            <a:avLst/>
          </a:prstGeom>
          <a:noFill/>
        </p:spPr>
        <p:txBody>
          <a:bodyPr wrap="square" anchor="t" lIns="0" rIns="0" tIns="0" bIns="0">
            <a:spAutoFit/>
          </a:bodyPr>
          <a:lstStyle/>
          <a:p>
            <a:pPr algn="l">
              <a:lnSpc>
                <a:spcPct val="140000"/>
              </a:lnSpc>
              <a:spcAft>
                <a:spcPts val="0"/>
              </a:spcAft>
            </a:pPr>
            <a:r>
              <a:rPr sz="1400" b="0" i="0">
                <a:solidFill>
                  <a:srgbClr val="6B7C85"/>
                </a:solidFill>
                <a:latin typeface="Helvetica Neue"/>
              </a:rPr>
              <a:t>Scoring a model against what the clinician actually prescribed measures agreement, not correctness. The blood culture susceptibility panel measures whether the recommended drug would have covered the organism that grew. It is indifferent to what anyone decided, and it is the one piece of evidence in the record that genuinely arrives after the decision.</a:t>
            </a:r>
          </a:p>
        </p:txBody>
      </p:sp>
      <p:sp>
        <p:nvSpPr>
          <p:cNvPr id="8" name="Rectangle 7"/>
          <p:cNvSpPr/>
          <p:nvPr/>
        </p:nvSpPr>
        <p:spPr>
          <a:xfrm>
            <a:off x="6647688" y="1874519"/>
            <a:ext cx="4885639" cy="93268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47688" y="1874519"/>
            <a:ext cx="50292" cy="93268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22007" y="2093976"/>
            <a:ext cx="4382719"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Adequate</a:t>
            </a:r>
          </a:p>
        </p:txBody>
      </p:sp>
      <p:sp>
        <p:nvSpPr>
          <p:cNvPr id="11" name="TextBox 10"/>
          <p:cNvSpPr txBox="1"/>
          <p:nvPr/>
        </p:nvSpPr>
        <p:spPr>
          <a:xfrm>
            <a:off x="6922007" y="2342578"/>
            <a:ext cx="4382719" cy="201167"/>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tested against every isolate on this patient and called susceptible</a:t>
            </a:r>
          </a:p>
        </p:txBody>
      </p:sp>
      <p:sp>
        <p:nvSpPr>
          <p:cNvPr id="12" name="Rectangle 11"/>
          <p:cNvSpPr/>
          <p:nvPr/>
        </p:nvSpPr>
        <p:spPr>
          <a:xfrm>
            <a:off x="6647688" y="2971800"/>
            <a:ext cx="4885639" cy="93268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647688" y="2971800"/>
            <a:ext cx="50292" cy="932688"/>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22007" y="3191256"/>
            <a:ext cx="4382719"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Inadequate</a:t>
            </a:r>
          </a:p>
        </p:txBody>
      </p:sp>
      <p:sp>
        <p:nvSpPr>
          <p:cNvPr id="15" name="TextBox 14"/>
          <p:cNvSpPr txBox="1"/>
          <p:nvPr/>
        </p:nvSpPr>
        <p:spPr>
          <a:xfrm>
            <a:off x="6922007" y="3439858"/>
            <a:ext cx="4382719" cy="201167"/>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resistant or intermediate against at least one isolate</a:t>
            </a:r>
          </a:p>
        </p:txBody>
      </p:sp>
      <p:sp>
        <p:nvSpPr>
          <p:cNvPr id="16" name="Rectangle 15"/>
          <p:cNvSpPr/>
          <p:nvPr/>
        </p:nvSpPr>
        <p:spPr>
          <a:xfrm>
            <a:off x="6647688" y="4069079"/>
            <a:ext cx="4885639" cy="93268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47688" y="4069079"/>
            <a:ext cx="50292" cy="932688"/>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22007" y="4288536"/>
            <a:ext cx="4382719"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Intermediate only</a:t>
            </a:r>
          </a:p>
        </p:txBody>
      </p:sp>
      <p:sp>
        <p:nvSpPr>
          <p:cNvPr id="19" name="TextBox 18"/>
          <p:cNvSpPr txBox="1"/>
          <p:nvPr/>
        </p:nvSpPr>
        <p:spPr>
          <a:xfrm>
            <a:off x="6922007" y="4537138"/>
            <a:ext cx="4382719" cy="201167"/>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the only verdicts available are intermediate</a:t>
            </a:r>
          </a:p>
        </p:txBody>
      </p:sp>
      <p:sp>
        <p:nvSpPr>
          <p:cNvPr id="20" name="Rectangle 19"/>
          <p:cNvSpPr/>
          <p:nvPr/>
        </p:nvSpPr>
        <p:spPr>
          <a:xfrm>
            <a:off x="6647688" y="5166359"/>
            <a:ext cx="4885639" cy="93268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47688" y="5166359"/>
            <a:ext cx="50292" cy="932688"/>
          </a:xfrm>
          <a:prstGeom prst="rect">
            <a:avLst/>
          </a:prstGeom>
          <a:solidFill>
            <a:srgbClr val="A7BA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22007" y="5385816"/>
            <a:ext cx="4382719"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Undetermined</a:t>
            </a:r>
          </a:p>
        </p:txBody>
      </p:sp>
      <p:sp>
        <p:nvSpPr>
          <p:cNvPr id="23" name="TextBox 22"/>
          <p:cNvSpPr txBox="1"/>
          <p:nvPr/>
        </p:nvSpPr>
        <p:spPr>
          <a:xfrm>
            <a:off x="6922007" y="5634418"/>
            <a:ext cx="4382719" cy="201167"/>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the laboratory never tested this drug against this organism</a:t>
            </a:r>
          </a:p>
        </p:txBody>
      </p:sp>
      <p:sp>
        <p:nvSpPr>
          <p:cNvPr id="24" name="TextBox 23"/>
          <p:cNvSpPr txBox="1"/>
          <p:nvPr/>
        </p:nvSpPr>
        <p:spPr>
          <a:xfrm>
            <a:off x="6647688" y="5806440"/>
            <a:ext cx="4885639" cy="457200"/>
          </a:xfrm>
          <a:prstGeom prst="rect">
            <a:avLst/>
          </a:prstGeom>
          <a:noFill/>
        </p:spPr>
        <p:txBody>
          <a:bodyPr wrap="square" anchor="t" lIns="0" rIns="0" tIns="0" bIns="0">
            <a:spAutoFit/>
          </a:bodyPr>
          <a:lstStyle/>
          <a:p>
            <a:pPr algn="l">
              <a:lnSpc>
                <a:spcPct val="130000"/>
              </a:lnSpc>
              <a:spcAft>
                <a:spcPts val="0"/>
              </a:spcAft>
            </a:pPr>
            <a:r>
              <a:rPr sz="1150" b="0" i="0">
                <a:solidFill>
                  <a:srgbClr val="6B7C85"/>
                </a:solidFill>
                <a:latin typeface="Helvetica Neue"/>
              </a:rPr>
              <a:t>Four classes, not two. Undetermined is a property of what the laboratory chose to test, so folding it into a denominator would inflate every rate in the study.</a:t>
            </a:r>
          </a:p>
        </p:txBody>
      </p:sp>
      <p:sp>
        <p:nvSpPr>
          <p:cNvPr id="25" name="Rectangle 24"/>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METHODS.md section 3  ·  outcome classes as pre-specified in protocol/</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303F"/>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Helvetica Neue"/>
              </a:rPr>
              <a:t>“does multi-agent communication improve clinical decision quality, or does it merely make the models agree?”</a:t>
            </a:r>
          </a:p>
        </p:txBody>
      </p:sp>
      <p:sp>
        <p:nvSpPr>
          <p:cNvPr id="4" name="Rectangle 3"/>
          <p:cNvSpPr/>
          <p:nvPr/>
        </p:nvSpPr>
        <p:spPr>
          <a:xfrm>
            <a:off x="658368" y="4224528"/>
            <a:ext cx="1463040" cy="25603"/>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7BAC4"/>
                </a:solidFill>
                <a:latin typeface="Helvetica Neue"/>
              </a:rPr>
              <a:t>Prof. Tingting Zhu, 14 August 2026</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7BAC4"/>
                </a:solidFill>
                <a:latin typeface="Helvetica Neue"/>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7BAC4"/>
                </a:solidFill>
                <a:latin typeface="Helvetica Neue"/>
              </a:rPr>
              <a:t>the endpoint hierarchy of 14 August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2303F"/>
                </a:solidFill>
                <a:latin typeface="Helvetica Neue"/>
              </a:rPr>
              <a:t>The gap. </a:t>
            </a:r>
            <a:r>
              <a:rPr sz="1300" b="0" i="0">
                <a:solidFill>
                  <a:srgbClr val="6B7C85"/>
                </a:solidFill>
                <a:latin typeface="Helvetica Neue"/>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1C7293"/>
                </a:solidFill>
                <a:latin typeface="Helvetica Neue"/>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6B7C85"/>
                </a:solidFill>
                <a:latin typeface="Helvetica Neue"/>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1C7293"/>
                </a:solidFill>
                <a:latin typeface="Helvetica Neue"/>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6B7C85"/>
                </a:solidFill>
                <a:latin typeface="Helvetica Neue"/>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1C7293"/>
                </a:solidFill>
                <a:latin typeface="Helvetica Neue"/>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6B7C85"/>
                </a:solidFill>
                <a:latin typeface="Helvetica Neue"/>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2303F"/>
                </a:solidFill>
                <a:latin typeface="Helvetica Neue"/>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6B7C85"/>
                </a:solidFill>
                <a:latin typeface="Helvetica Neue"/>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2303F"/>
                </a:solidFill>
                <a:latin typeface="Helvetica Neue"/>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6B7C85"/>
                </a:solidFill>
                <a:latin typeface="Helvetica Neue"/>
              </a:rPr>
              <a:t>Reviews and challenges. Its incentive is restraint: do not spend last-line therapy.</a:t>
            </a:r>
          </a:p>
        </p:txBody>
      </p:sp>
      <p:sp>
        <p:nvSpPr>
          <p:cNvPr id="12" name="Rectangle 11"/>
          <p:cNvSpPr/>
          <p:nvPr/>
        </p:nvSpPr>
        <p:spPr>
          <a:xfrm>
            <a:off x="658368" y="3657600"/>
            <a:ext cx="3454298" cy="160020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57600"/>
            <a:ext cx="50292" cy="160020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Closed formulary</a:t>
            </a:r>
          </a:p>
        </p:txBody>
      </p:sp>
      <p:sp>
        <p:nvSpPr>
          <p:cNvPr id="15" name="TextBox 14"/>
          <p:cNvSpPr txBox="1"/>
          <p:nvPr/>
        </p:nvSpPr>
        <p:spPr>
          <a:xfrm>
            <a:off x="93268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17 agents plus OTHER and ABSTAIN. An off-list answer is recorded as a parse failure, never scored as a wrong answer.</a:t>
            </a:r>
          </a:p>
        </p:txBody>
      </p:sp>
      <p:sp>
        <p:nvSpPr>
          <p:cNvPr id="16" name="Rectangle 15"/>
          <p:cNvSpPr/>
          <p:nvPr/>
        </p:nvSpPr>
        <p:spPr>
          <a:xfrm>
            <a:off x="4368698" y="3657600"/>
            <a:ext cx="3454298" cy="160020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68698" y="3657600"/>
            <a:ext cx="50292" cy="160020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Both directions, every case</a:t>
            </a:r>
          </a:p>
        </p:txBody>
      </p:sp>
      <p:sp>
        <p:nvSpPr>
          <p:cNvPr id="19" name="TextBox 18"/>
          <p:cNvSpPr txBox="1"/>
          <p:nvPr/>
        </p:nvSpPr>
        <p:spPr>
          <a:xfrm>
            <a:off x="464301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Each case is run twice, once with each agent opening, so speaking order is a variable I measure rather than a nuisance I average away.</a:t>
            </a:r>
          </a:p>
        </p:txBody>
      </p:sp>
      <p:sp>
        <p:nvSpPr>
          <p:cNvPr id="20" name="Rectangle 19"/>
          <p:cNvSpPr/>
          <p:nvPr/>
        </p:nvSpPr>
        <p:spPr>
          <a:xfrm>
            <a:off x="8079028" y="3657600"/>
            <a:ext cx="3454298" cy="160020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9028" y="3657600"/>
            <a:ext cx="50292" cy="160020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334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2303F"/>
                </a:solidFill>
                <a:latin typeface="Helvetica Neue"/>
              </a:rPr>
              <a:t>Frozen before the first call</a:t>
            </a:r>
          </a:p>
        </p:txBody>
      </p:sp>
      <p:sp>
        <p:nvSpPr>
          <p:cNvPr id="23" name="TextBox 22"/>
          <p:cNvSpPr txBox="1"/>
          <p:nvPr/>
        </p:nvSpPr>
        <p:spPr>
          <a:xfrm>
            <a:off x="835334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Cohort content-hashed and scorer SHA-pinned, temperature 0, fixed seed, so nothing could be tuned after seeing a result.</a:t>
            </a:r>
          </a:p>
        </p:txBody>
      </p:sp>
      <p:sp>
        <p:nvSpPr>
          <p:cNvPr id="24" name="TextBox 23"/>
          <p:cNvSpPr txBox="1"/>
          <p:nvPr/>
        </p:nvSpPr>
        <p:spPr>
          <a:xfrm>
            <a:off x="658368" y="5577840"/>
            <a:ext cx="10874959" cy="457200"/>
          </a:xfrm>
          <a:prstGeom prst="rect">
            <a:avLst/>
          </a:prstGeom>
          <a:noFill/>
        </p:spPr>
        <p:txBody>
          <a:bodyPr wrap="square" anchor="t" lIns="0" rIns="0" tIns="0" bIns="0">
            <a:spAutoFit/>
          </a:bodyPr>
          <a:lstStyle/>
          <a:p>
            <a:pPr algn="l">
              <a:lnSpc>
                <a:spcPct val="135000"/>
              </a:lnSpc>
              <a:spcAft>
                <a:spcPts val="0"/>
              </a:spcAft>
            </a:pPr>
            <a:r>
              <a:rPr sz="1300" b="0" i="0">
                <a:solidFill>
                  <a:srgbClr val="6B7C85"/>
                </a:solidFill>
                <a:latin typeface="Helvetica Neue"/>
              </a:rPr>
              <a:t>The two identities were chosen to carry a real clinical tension rather than an invented one. If deference exists, opposed incentives should make it visible.</a:t>
            </a:r>
          </a:p>
        </p:txBody>
      </p:sp>
      <p:sp>
        <p:nvSpPr>
          <p:cNvPr id="25" name="Rectangle 24"/>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METHODS.md sections 4, 5 and 8  ·  model qwen3:4b-instruct-2507-q4_K_M, temperature 0, seed 20260818</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WHAT A CHANGE MEANS</a:t>
            </a:r>
          </a:p>
        </p:txBody>
      </p:sp>
      <p:sp>
        <p:nvSpPr>
          <p:cNvPr id="7" name="Rectangle 6"/>
          <p:cNvSpPr/>
          <p:nvPr/>
        </p:nvSpPr>
        <p:spPr>
          <a:xfrm>
            <a:off x="658368" y="2487168"/>
            <a:ext cx="10874959" cy="10972"/>
          </a:xfrm>
          <a:prstGeom prst="rect">
            <a:avLst/>
          </a:prstGeom>
          <a:solidFill>
            <a:srgbClr val="123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this is the zero-shot recommendation</a:t>
            </a:r>
          </a:p>
        </p:txBody>
      </p:sp>
      <p:sp>
        <p:nvSpPr>
          <p:cNvPr id="11" name="Rectangle 10"/>
          <p:cNvSpPr/>
          <p:nvPr/>
        </p:nvSpPr>
        <p:spPr>
          <a:xfrm>
            <a:off x="658368" y="3145536"/>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any change is instability</a:t>
            </a:r>
          </a:p>
        </p:txBody>
      </p:sp>
      <p:sp>
        <p:nvSpPr>
          <p:cNvPr id="15" name="Rectangle 14"/>
          <p:cNvSpPr/>
          <p:nvPr/>
        </p:nvSpPr>
        <p:spPr>
          <a:xfrm>
            <a:off x="658368" y="3694176"/>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any change is unjustified</a:t>
            </a:r>
          </a:p>
        </p:txBody>
      </p:sp>
      <p:sp>
        <p:nvSpPr>
          <p:cNvPr id="19" name="Rectangle 18"/>
          <p:cNvSpPr/>
          <p:nvPr/>
        </p:nvSpPr>
        <p:spPr>
          <a:xfrm>
            <a:off x="658368" y="4242816"/>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2303F"/>
                </a:solidFill>
                <a:latin typeface="Helvetica Neue"/>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2303F"/>
                </a:solidFill>
                <a:latin typeface="Helvetica Neue"/>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2303F"/>
                </a:solidFill>
                <a:latin typeface="Helvetica Neue"/>
              </a:rPr>
              <a:t>Cn is the condition that makes the others mean anything. </a:t>
            </a:r>
            <a:r>
              <a:rPr sz="1350" b="0" i="0">
                <a:solidFill>
                  <a:srgbClr val="6B7C85"/>
                </a:solidFill>
                <a:latin typeface="Helvetica Neue"/>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2303F"/>
                </a:solidFill>
                <a:latin typeface="Helvetica Neue"/>
              </a:rPr>
              <a:t>The four pressure sentences, gated to contain no clinical content</a:t>
            </a:r>
          </a:p>
          <a:p>
            <a:pPr algn="l">
              <a:lnSpc>
                <a:spcPct val="130000"/>
              </a:lnSpc>
              <a:spcAft>
                <a:spcPts val="500"/>
              </a:spcAft>
            </a:pPr>
            <a:r>
              <a:rPr sz="1150" b="0" i="0">
                <a:solidFill>
                  <a:srgbClr val="6B7C85"/>
                </a:solidFill>
                <a:latin typeface="Helvetica Neue"/>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C64B3E"/>
                </a:solidFill>
                <a:latin typeface="Helvetica Neue"/>
              </a:rPr>
              <a:t>Census of all 312 pressure turns: 0 contained any organism or susceptibility phrasing.</a:t>
            </a:r>
          </a:p>
        </p:txBody>
      </p:sp>
      <p:sp>
        <p:nvSpPr>
          <p:cNvPr id="26" name="Rectangle 25"/>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METHODS.md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THE QUESTION IT ANSWERS</a:t>
            </a:r>
          </a:p>
        </p:txBody>
      </p:sp>
      <p:sp>
        <p:nvSpPr>
          <p:cNvPr id="8" name="Rectangle 7"/>
          <p:cNvSpPr/>
          <p:nvPr/>
        </p:nvSpPr>
        <p:spPr>
          <a:xfrm>
            <a:off x="658368" y="2468879"/>
            <a:ext cx="6851224" cy="10972"/>
          </a:xfrm>
          <a:prstGeom prst="rect">
            <a:avLst/>
          </a:prstGeom>
          <a:solidFill>
            <a:srgbClr val="123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2303F"/>
                </a:solidFill>
                <a:latin typeface="Helvetica Neue"/>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2303F"/>
                </a:solidFill>
                <a:latin typeface="Helvetica Neue"/>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2303F"/>
                </a:solidFill>
                <a:latin typeface="Helvetica Neue"/>
              </a:rPr>
              <a:t>the subject of every debate arm, not a comparison</a:t>
            </a:r>
          </a:p>
        </p:txBody>
      </p:sp>
      <p:sp>
        <p:nvSpPr>
          <p:cNvPr id="12" name="Rectangle 11"/>
          <p:cNvSpPr/>
          <p:nvPr/>
        </p:nvSpPr>
        <p:spPr>
          <a:xfrm>
            <a:off x="658368" y="3090672"/>
            <a:ext cx="6851224"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2303F"/>
                </a:solidFill>
                <a:latin typeface="Helvetica Neue"/>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2303F"/>
                </a:solidFill>
                <a:latin typeface="Helvetica Neue"/>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2303F"/>
                </a:solidFill>
                <a:latin typeface="Helvetica Neue"/>
              </a:rPr>
              <a:t>does medical domain tuning change the behaviour</a:t>
            </a:r>
          </a:p>
        </p:txBody>
      </p:sp>
      <p:sp>
        <p:nvSpPr>
          <p:cNvPr id="16" name="Rectangle 15"/>
          <p:cNvSpPr/>
          <p:nvPr/>
        </p:nvSpPr>
        <p:spPr>
          <a:xfrm>
            <a:off x="658368" y="3602736"/>
            <a:ext cx="6851224"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2303F"/>
                </a:solidFill>
                <a:latin typeface="Helvetica Neue"/>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2303F"/>
                </a:solidFill>
                <a:latin typeface="Helvetica Neue"/>
              </a:rPr>
              <a:t>four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2303F"/>
                </a:solidFill>
                <a:latin typeface="Helvetica Neue"/>
              </a:rPr>
              <a:t>how well does a small domain encoder do with no dialogue at all</a:t>
            </a:r>
          </a:p>
        </p:txBody>
      </p:sp>
      <p:sp>
        <p:nvSpPr>
          <p:cNvPr id="20" name="Rectangle 19"/>
          <p:cNvSpPr/>
          <p:nvPr/>
        </p:nvSpPr>
        <p:spPr>
          <a:xfrm>
            <a:off x="7835841" y="2084831"/>
            <a:ext cx="3697486" cy="21488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161" y="2286000"/>
            <a:ext cx="3148846" cy="1828800"/>
          </a:xfrm>
          <a:prstGeom prst="rect">
            <a:avLst/>
          </a:prstGeom>
          <a:noFill/>
        </p:spPr>
        <p:txBody>
          <a:bodyPr wrap="square" anchor="t" lIns="0" rIns="0" tIns="0" bIns="0">
            <a:spAutoFit/>
          </a:bodyPr>
          <a:lstStyle/>
          <a:p>
            <a:pPr algn="l">
              <a:lnSpc>
                <a:spcPct val="132000"/>
              </a:lnSpc>
              <a:spcAft>
                <a:spcPts val="800"/>
              </a:spcAft>
            </a:pPr>
            <a:r>
              <a:rPr sz="1350" b="1" i="0">
                <a:solidFill>
                  <a:srgbClr val="12303F"/>
                </a:solidFill>
                <a:latin typeface="Helvetica Neue"/>
              </a:rPr>
              <a:t>Tier 3 is the sharpest number in the project</a:t>
            </a:r>
          </a:p>
          <a:p>
            <a:pPr algn="l">
              <a:lnSpc>
                <a:spcPct val="132000"/>
              </a:lnSpc>
              <a:spcAft>
                <a:spcPts val="800"/>
              </a:spcAft>
            </a:pPr>
            <a:r>
              <a:rPr sz="1200" b="0" i="0">
                <a:solidFill>
                  <a:srgbClr val="6B7C85"/>
                </a:solidFill>
                <a:latin typeface="Helvetica Neue"/>
              </a:rPr>
              <a:t>BiomedBERT, 110M parameters, no fine-tuning and no dialogue, reaches 84.5 per cent coverage against the 4B model's 87.5 per cent.</a:t>
            </a:r>
          </a:p>
          <a:p>
            <a:pPr algn="l">
              <a:lnSpc>
                <a:spcPct val="132000"/>
              </a:lnSpc>
              <a:spcAft>
                <a:spcPts val="800"/>
              </a:spcAft>
            </a:pPr>
            <a:r>
              <a:rPr sz="1200" b="0" i="0">
                <a:solidFill>
                  <a:srgbClr val="6B7C85"/>
                </a:solidFill>
                <a:latin typeface="Helvetica Neue"/>
              </a:rPr>
              <a:t>All four encoders are near-constant too, one or two distinct predictions across 200 different patients. The fixed-policy behaviour is not a quirk of the generative model.</a:t>
            </a:r>
          </a:p>
        </p:txBody>
      </p:sp>
      <p:sp>
        <p:nvSpPr>
          <p:cNvPr id="22" name="TextBox 21"/>
          <p:cNvSpPr txBox="1"/>
          <p:nvPr/>
        </p:nvSpPr>
        <p:spPr>
          <a:xfrm>
            <a:off x="658368" y="4572000"/>
            <a:ext cx="6851224" cy="1188720"/>
          </a:xfrm>
          <a:prstGeom prst="rect">
            <a:avLst/>
          </a:prstGeom>
          <a:noFill/>
        </p:spPr>
        <p:txBody>
          <a:bodyPr wrap="square" anchor="t" lIns="0" rIns="0" tIns="0" bIns="0">
            <a:spAutoFit/>
          </a:bodyPr>
          <a:lstStyle/>
          <a:p>
            <a:pPr algn="l">
              <a:lnSpc>
                <a:spcPct val="136000"/>
              </a:lnSpc>
              <a:spcAft>
                <a:spcPts val="0"/>
              </a:spcAft>
            </a:pPr>
            <a:r>
              <a:rPr sz="1300" b="1" i="0">
                <a:solidFill>
                  <a:srgbClr val="12303F"/>
                </a:solidFill>
                <a:latin typeface="Helvetica Neue"/>
              </a:rPr>
              <a:t>Why both generative tiers are 4B and both 4-bit. </a:t>
            </a:r>
            <a:r>
              <a:rPr sz="1300" b="0" i="0">
                <a:solidFill>
                  <a:srgbClr val="6B7C85"/>
                </a:solidFill>
                <a:latin typeface="Helvetica Neue"/>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23" name="TextBox 22"/>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2303F"/>
                </a:solidFill>
                <a:latin typeface="Helvetica Neue"/>
              </a:rPr>
              <a:t>Held fixed across every model</a:t>
            </a:r>
          </a:p>
          <a:p>
            <a:pPr algn="l">
              <a:lnSpc>
                <a:spcPct val="132000"/>
              </a:lnSpc>
              <a:spcAft>
                <a:spcPts val="600"/>
              </a:spcAft>
            </a:pPr>
            <a:r>
              <a:rPr sz="1150" b="0" i="0">
                <a:solidFill>
                  <a:srgbClr val="6B7C85"/>
                </a:solidFill>
                <a:latin typeface="Helvetica Neue"/>
              </a:rPr>
              <a:t>Temperature 0, seed 20260818, context 8192, 512 predicted tokens, thinking disabled, digest recorded and asserted before use.</a:t>
            </a:r>
          </a:p>
        </p:txBody>
      </p:sp>
      <p:sp>
        <p:nvSpPr>
          <p:cNvPr id="24" name="TextBox 23"/>
          <p:cNvSpPr txBox="1"/>
          <p:nvPr/>
        </p:nvSpPr>
        <p:spPr>
          <a:xfrm>
            <a:off x="658368" y="5760720"/>
            <a:ext cx="6851224" cy="457200"/>
          </a:xfrm>
          <a:prstGeom prst="rect">
            <a:avLst/>
          </a:prstGeom>
          <a:noFill/>
        </p:spPr>
        <p:txBody>
          <a:bodyPr wrap="square" anchor="t" lIns="0" rIns="0" tIns="0" bIns="0">
            <a:spAutoFit/>
          </a:bodyPr>
          <a:lstStyle/>
          <a:p>
            <a:pPr algn="l">
              <a:lnSpc>
                <a:spcPct val="130000"/>
              </a:lnSpc>
              <a:spcAft>
                <a:spcPts val="0"/>
              </a:spcAft>
            </a:pPr>
            <a:r>
              <a:rPr sz="1150" b="0" i="0">
                <a:solidFill>
                  <a:srgbClr val="6B7C85"/>
                </a:solidFill>
                <a:latin typeface="Helvetica Neue"/>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25" name="Rectangle 24"/>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docs/MODELS.md  ·  the encoder baselines answer the supervisor's ask for a medical BERT without fine-tuning</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2303F"/>
                </a:solidFill>
                <a:latin typeface="Helvetica Neue"/>
              </a:rPr>
              <a:t>This bounds everything that follows. </a:t>
            </a:r>
            <a:r>
              <a:rPr sz="1350" b="0" i="0">
                <a:solidFill>
                  <a:srgbClr val="6B7C85"/>
                </a:solidFill>
                <a:latin typeface="Helvetica Neue"/>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b = 63 to 70</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changed under pressure only</a:t>
            </a:r>
          </a:p>
        </p:txBody>
      </p:sp>
      <p:sp>
        <p:nvSpPr>
          <p:cNvPr id="8" name="Rectangle 7"/>
          <p:cNvSpPr/>
          <p:nvPr/>
        </p:nvSpPr>
        <p:spPr>
          <a:xfrm>
            <a:off x="3445687" y="5074920"/>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changed under the neutral control only, every framing</a:t>
            </a:r>
          </a:p>
        </p:txBody>
      </p:sp>
      <p:sp>
        <p:nvSpPr>
          <p:cNvPr id="11" name="Rectangle 10"/>
          <p:cNvSpPr/>
          <p:nvPr/>
        </p:nvSpPr>
        <p:spPr>
          <a:xfrm>
            <a:off x="6233007" y="5074920"/>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p ≤ 2.2e-19</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exact binomial, worst of the four framings</a:t>
            </a:r>
          </a:p>
        </p:txBody>
      </p:sp>
      <p:sp>
        <p:nvSpPr>
          <p:cNvPr id="14" name="Rectangle 13"/>
          <p:cNvSpPr/>
          <p:nvPr/>
        </p:nvSpPr>
        <p:spPr>
          <a:xfrm>
            <a:off x="9020327" y="5074920"/>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70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cases evaluable in all four conditions</a:t>
            </a:r>
          </a:p>
        </p:txBody>
      </p:sp>
      <p:sp>
        <p:nvSpPr>
          <p:cNvPr id="17" name="TextBox 16"/>
          <p:cNvSpPr txBox="1"/>
          <p:nvPr/>
        </p:nvSpPr>
        <p:spPr>
          <a:xfrm>
            <a:off x="658368" y="598932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6B7C85"/>
                </a:solidFill>
                <a:latin typeface="Helvetica Neue"/>
              </a:rPr>
              <a:t>Stated before the result: 130 cases are dropped because at least one condition returns UNDETERMINED, which is a property of what the laboratory chose to test. The primary result rests on the surviving third.</a:t>
            </a:r>
          </a:p>
        </p:txBody>
      </p:sp>
      <p:sp>
        <p:nvSpPr>
          <p:cNvPr id="18" name="Rectangle 17"/>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PRIMARY_TEST.md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Her transition table: what happened to recommendations that were correct before the challenge.</a:t>
            </a:r>
          </a:p>
        </p:txBody>
      </p:sp>
      <p:sp>
        <p:nvSpPr>
          <p:cNvPr id="5" name="TextBox 4"/>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WHAT THE MODEL HEARD</a:t>
            </a:r>
          </a:p>
        </p:txBody>
      </p:sp>
      <p:sp>
        <p:nvSpPr>
          <p:cNvPr id="6" name="TextBox 5"/>
          <p:cNvSpPr txBox="1"/>
          <p:nvPr/>
        </p:nvSpPr>
        <p:spPr>
          <a:xfrm>
            <a:off x="4355854" y="2084831"/>
            <a:ext cx="163026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STABLE CORRECT</a:t>
            </a:r>
          </a:p>
        </p:txBody>
      </p:sp>
      <p:sp>
        <p:nvSpPr>
          <p:cNvPr id="7" name="TextBox 6"/>
          <p:cNvSpPr txBox="1"/>
          <p:nvPr/>
        </p:nvSpPr>
        <p:spPr>
          <a:xfrm>
            <a:off x="6095847" y="2084831"/>
            <a:ext cx="1956514"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BENEFICIAL CORRECTION</a:t>
            </a:r>
          </a:p>
        </p:txBody>
      </p:sp>
      <p:sp>
        <p:nvSpPr>
          <p:cNvPr id="8" name="TextBox 7"/>
          <p:cNvSpPr txBox="1"/>
          <p:nvPr/>
        </p:nvSpPr>
        <p:spPr>
          <a:xfrm>
            <a:off x="8162089" y="2084831"/>
            <a:ext cx="173901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HARMFUL DEFERENCE</a:t>
            </a:r>
          </a:p>
        </p:txBody>
      </p:sp>
      <p:sp>
        <p:nvSpPr>
          <p:cNvPr id="9" name="TextBox 8"/>
          <p:cNvSpPr txBox="1"/>
          <p:nvPr/>
        </p:nvSpPr>
        <p:spPr>
          <a:xfrm>
            <a:off x="10010832" y="2084831"/>
            <a:ext cx="1412766"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6B7C85"/>
                </a:solidFill>
                <a:latin typeface="Helvetica Neue"/>
              </a:rPr>
              <a:t>HARMFUL REVISION RATE</a:t>
            </a:r>
          </a:p>
        </p:txBody>
      </p:sp>
      <p:sp>
        <p:nvSpPr>
          <p:cNvPr id="10" name="Rectangle 9"/>
          <p:cNvSpPr/>
          <p:nvPr/>
        </p:nvSpPr>
        <p:spPr>
          <a:xfrm>
            <a:off x="658368" y="2468879"/>
            <a:ext cx="10874959" cy="10972"/>
          </a:xfrm>
          <a:prstGeom prst="rect">
            <a:avLst/>
          </a:prstGeom>
          <a:solidFill>
            <a:srgbClr val="123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651760"/>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pressure, authority</a:t>
            </a:r>
          </a:p>
        </p:txBody>
      </p:sp>
      <p:sp>
        <p:nvSpPr>
          <p:cNvPr id="12" name="TextBox 11"/>
          <p:cNvSpPr txBox="1"/>
          <p:nvPr/>
        </p:nvSpPr>
        <p:spPr>
          <a:xfrm>
            <a:off x="4355854" y="2651760"/>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67</a:t>
            </a:r>
          </a:p>
        </p:txBody>
      </p:sp>
      <p:sp>
        <p:nvSpPr>
          <p:cNvPr id="13" name="TextBox 12"/>
          <p:cNvSpPr txBox="1"/>
          <p:nvPr/>
        </p:nvSpPr>
        <p:spPr>
          <a:xfrm>
            <a:off x="6095847" y="2651760"/>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2</a:t>
            </a:r>
          </a:p>
        </p:txBody>
      </p:sp>
      <p:sp>
        <p:nvSpPr>
          <p:cNvPr id="14" name="TextBox 13"/>
          <p:cNvSpPr txBox="1"/>
          <p:nvPr/>
        </p:nvSpPr>
        <p:spPr>
          <a:xfrm>
            <a:off x="8162089" y="2651760"/>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a:t>
            </a:r>
          </a:p>
        </p:txBody>
      </p:sp>
      <p:sp>
        <p:nvSpPr>
          <p:cNvPr id="15" name="TextBox 14"/>
          <p:cNvSpPr txBox="1"/>
          <p:nvPr/>
        </p:nvSpPr>
        <p:spPr>
          <a:xfrm>
            <a:off x="10010832" y="2651760"/>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1.5%</a:t>
            </a:r>
          </a:p>
        </p:txBody>
      </p:sp>
      <p:sp>
        <p:nvSpPr>
          <p:cNvPr id="16" name="Rectangle 15"/>
          <p:cNvSpPr/>
          <p:nvPr/>
        </p:nvSpPr>
        <p:spPr>
          <a:xfrm>
            <a:off x="658368" y="2980944"/>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054096"/>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pressure, peer consensus</a:t>
            </a:r>
          </a:p>
        </p:txBody>
      </p:sp>
      <p:sp>
        <p:nvSpPr>
          <p:cNvPr id="18" name="TextBox 17"/>
          <p:cNvSpPr txBox="1"/>
          <p:nvPr/>
        </p:nvSpPr>
        <p:spPr>
          <a:xfrm>
            <a:off x="4355854" y="3054096"/>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68</a:t>
            </a:r>
          </a:p>
        </p:txBody>
      </p:sp>
      <p:sp>
        <p:nvSpPr>
          <p:cNvPr id="19" name="TextBox 18"/>
          <p:cNvSpPr txBox="1"/>
          <p:nvPr/>
        </p:nvSpPr>
        <p:spPr>
          <a:xfrm>
            <a:off x="6095847" y="3054096"/>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2</a:t>
            </a:r>
          </a:p>
        </p:txBody>
      </p:sp>
      <p:sp>
        <p:nvSpPr>
          <p:cNvPr id="20" name="TextBox 19"/>
          <p:cNvSpPr txBox="1"/>
          <p:nvPr/>
        </p:nvSpPr>
        <p:spPr>
          <a:xfrm>
            <a:off x="8162089" y="3054096"/>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0</a:t>
            </a:r>
          </a:p>
        </p:txBody>
      </p:sp>
      <p:sp>
        <p:nvSpPr>
          <p:cNvPr id="21" name="TextBox 20"/>
          <p:cNvSpPr txBox="1"/>
          <p:nvPr/>
        </p:nvSpPr>
        <p:spPr>
          <a:xfrm>
            <a:off x="10010832" y="3054096"/>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0.0%</a:t>
            </a:r>
          </a:p>
        </p:txBody>
      </p:sp>
      <p:sp>
        <p:nvSpPr>
          <p:cNvPr id="22" name="Rectangle 21"/>
          <p:cNvSpPr/>
          <p:nvPr/>
        </p:nvSpPr>
        <p:spPr>
          <a:xfrm>
            <a:off x="658368" y="3383279"/>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456432"/>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pressure, safety framing</a:t>
            </a:r>
          </a:p>
        </p:txBody>
      </p:sp>
      <p:sp>
        <p:nvSpPr>
          <p:cNvPr id="24" name="TextBox 23"/>
          <p:cNvSpPr txBox="1"/>
          <p:nvPr/>
        </p:nvSpPr>
        <p:spPr>
          <a:xfrm>
            <a:off x="4355854" y="3456432"/>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67</a:t>
            </a:r>
          </a:p>
        </p:txBody>
      </p:sp>
      <p:sp>
        <p:nvSpPr>
          <p:cNvPr id="25" name="TextBox 24"/>
          <p:cNvSpPr txBox="1"/>
          <p:nvPr/>
        </p:nvSpPr>
        <p:spPr>
          <a:xfrm>
            <a:off x="6095847" y="3456432"/>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2</a:t>
            </a:r>
          </a:p>
        </p:txBody>
      </p:sp>
      <p:sp>
        <p:nvSpPr>
          <p:cNvPr id="26" name="TextBox 25"/>
          <p:cNvSpPr txBox="1"/>
          <p:nvPr/>
        </p:nvSpPr>
        <p:spPr>
          <a:xfrm>
            <a:off x="8162089" y="3456432"/>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a:t>
            </a:r>
          </a:p>
        </p:txBody>
      </p:sp>
      <p:sp>
        <p:nvSpPr>
          <p:cNvPr id="27" name="TextBox 26"/>
          <p:cNvSpPr txBox="1"/>
          <p:nvPr/>
        </p:nvSpPr>
        <p:spPr>
          <a:xfrm>
            <a:off x="10010832" y="3456432"/>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1.5%</a:t>
            </a:r>
          </a:p>
        </p:txBody>
      </p:sp>
      <p:sp>
        <p:nvSpPr>
          <p:cNvPr id="28" name="Rectangle 27"/>
          <p:cNvSpPr/>
          <p:nvPr/>
        </p:nvSpPr>
        <p:spPr>
          <a:xfrm>
            <a:off x="658368" y="3785616"/>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3858768"/>
            <a:ext cx="3587758"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pressure, bare doubt</a:t>
            </a:r>
          </a:p>
        </p:txBody>
      </p:sp>
      <p:sp>
        <p:nvSpPr>
          <p:cNvPr id="30" name="TextBox 29"/>
          <p:cNvSpPr txBox="1"/>
          <p:nvPr/>
        </p:nvSpPr>
        <p:spPr>
          <a:xfrm>
            <a:off x="4355854" y="3858768"/>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67</a:t>
            </a:r>
          </a:p>
        </p:txBody>
      </p:sp>
      <p:sp>
        <p:nvSpPr>
          <p:cNvPr id="31" name="TextBox 30"/>
          <p:cNvSpPr txBox="1"/>
          <p:nvPr/>
        </p:nvSpPr>
        <p:spPr>
          <a:xfrm>
            <a:off x="6095847" y="3858768"/>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2</a:t>
            </a:r>
          </a:p>
        </p:txBody>
      </p:sp>
      <p:sp>
        <p:nvSpPr>
          <p:cNvPr id="32" name="TextBox 31"/>
          <p:cNvSpPr txBox="1"/>
          <p:nvPr/>
        </p:nvSpPr>
        <p:spPr>
          <a:xfrm>
            <a:off x="8162089" y="3858768"/>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a:t>
            </a:r>
          </a:p>
        </p:txBody>
      </p:sp>
      <p:sp>
        <p:nvSpPr>
          <p:cNvPr id="33" name="TextBox 32"/>
          <p:cNvSpPr txBox="1"/>
          <p:nvPr/>
        </p:nvSpPr>
        <p:spPr>
          <a:xfrm>
            <a:off x="10010832" y="3858768"/>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1.5%</a:t>
            </a:r>
          </a:p>
        </p:txBody>
      </p:sp>
      <p:sp>
        <p:nvSpPr>
          <p:cNvPr id="34" name="Rectangle 33"/>
          <p:cNvSpPr/>
          <p:nvPr/>
        </p:nvSpPr>
        <p:spPr>
          <a:xfrm>
            <a:off x="658368" y="4187952"/>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4261104"/>
            <a:ext cx="3587758" cy="402336"/>
          </a:xfrm>
          <a:prstGeom prst="rect">
            <a:avLst/>
          </a:prstGeom>
          <a:noFill/>
        </p:spPr>
        <p:txBody>
          <a:bodyPr wrap="square" anchor="t" lIns="0" rIns="0" tIns="0" bIns="0">
            <a:spAutoFit/>
          </a:bodyPr>
          <a:lstStyle/>
          <a:p>
            <a:pPr algn="l">
              <a:lnSpc>
                <a:spcPct val="120000"/>
              </a:lnSpc>
              <a:spcAft>
                <a:spcPts val="0"/>
              </a:spcAft>
            </a:pPr>
            <a:r>
              <a:rPr sz="1300" b="1" i="0">
                <a:solidFill>
                  <a:srgbClr val="12303F"/>
                </a:solidFill>
                <a:latin typeface="Helvetica Neue"/>
              </a:rPr>
              <a:t>the susceptibility panel</a:t>
            </a:r>
          </a:p>
        </p:txBody>
      </p:sp>
      <p:sp>
        <p:nvSpPr>
          <p:cNvPr id="36" name="TextBox 35"/>
          <p:cNvSpPr txBox="1"/>
          <p:nvPr/>
        </p:nvSpPr>
        <p:spPr>
          <a:xfrm>
            <a:off x="4355854" y="4261104"/>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172</a:t>
            </a:r>
          </a:p>
        </p:txBody>
      </p:sp>
      <p:sp>
        <p:nvSpPr>
          <p:cNvPr id="37" name="TextBox 36"/>
          <p:cNvSpPr txBox="1"/>
          <p:nvPr/>
        </p:nvSpPr>
        <p:spPr>
          <a:xfrm>
            <a:off x="6095847" y="4261104"/>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11</a:t>
            </a:r>
          </a:p>
        </p:txBody>
      </p:sp>
      <p:sp>
        <p:nvSpPr>
          <p:cNvPr id="38" name="TextBox 37"/>
          <p:cNvSpPr txBox="1"/>
          <p:nvPr/>
        </p:nvSpPr>
        <p:spPr>
          <a:xfrm>
            <a:off x="8162089" y="4261104"/>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2</a:t>
            </a:r>
          </a:p>
        </p:txBody>
      </p:sp>
      <p:sp>
        <p:nvSpPr>
          <p:cNvPr id="39" name="TextBox 38"/>
          <p:cNvSpPr txBox="1"/>
          <p:nvPr/>
        </p:nvSpPr>
        <p:spPr>
          <a:xfrm>
            <a:off x="10010832" y="4261104"/>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1.1%</a:t>
            </a:r>
          </a:p>
        </p:txBody>
      </p:sp>
      <p:sp>
        <p:nvSpPr>
          <p:cNvPr id="40" name="Rectangle 39"/>
          <p:cNvSpPr/>
          <p:nvPr/>
        </p:nvSpPr>
        <p:spPr>
          <a:xfrm>
            <a:off x="658368" y="459028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4663440"/>
            <a:ext cx="3587758" cy="402336"/>
          </a:xfrm>
          <a:prstGeom prst="rect">
            <a:avLst/>
          </a:prstGeom>
          <a:noFill/>
        </p:spPr>
        <p:txBody>
          <a:bodyPr wrap="square" anchor="t" lIns="0" rIns="0" tIns="0" bIns="0">
            <a:spAutoFit/>
          </a:bodyPr>
          <a:lstStyle/>
          <a:p>
            <a:pPr algn="l">
              <a:lnSpc>
                <a:spcPct val="120000"/>
              </a:lnSpc>
              <a:spcAft>
                <a:spcPts val="0"/>
              </a:spcAft>
            </a:pPr>
            <a:r>
              <a:rPr sz="1300" b="1" i="0">
                <a:solidFill>
                  <a:srgbClr val="12303F"/>
                </a:solidFill>
                <a:latin typeface="Helvetica Neue"/>
              </a:rPr>
              <a:t>neutral control</a:t>
            </a:r>
          </a:p>
        </p:txBody>
      </p:sp>
      <p:sp>
        <p:nvSpPr>
          <p:cNvPr id="42" name="TextBox 41"/>
          <p:cNvSpPr txBox="1"/>
          <p:nvPr/>
        </p:nvSpPr>
        <p:spPr>
          <a:xfrm>
            <a:off x="4355854" y="4663440"/>
            <a:ext cx="163026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175</a:t>
            </a:r>
          </a:p>
        </p:txBody>
      </p:sp>
      <p:sp>
        <p:nvSpPr>
          <p:cNvPr id="43" name="TextBox 42"/>
          <p:cNvSpPr txBox="1"/>
          <p:nvPr/>
        </p:nvSpPr>
        <p:spPr>
          <a:xfrm>
            <a:off x="6095847" y="4663440"/>
            <a:ext cx="1956514"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0</a:t>
            </a:r>
          </a:p>
        </p:txBody>
      </p:sp>
      <p:sp>
        <p:nvSpPr>
          <p:cNvPr id="44" name="TextBox 43"/>
          <p:cNvSpPr txBox="1"/>
          <p:nvPr/>
        </p:nvSpPr>
        <p:spPr>
          <a:xfrm>
            <a:off x="8162089" y="4663440"/>
            <a:ext cx="1739015"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0</a:t>
            </a:r>
          </a:p>
        </p:txBody>
      </p:sp>
      <p:sp>
        <p:nvSpPr>
          <p:cNvPr id="45" name="TextBox 44"/>
          <p:cNvSpPr txBox="1"/>
          <p:nvPr/>
        </p:nvSpPr>
        <p:spPr>
          <a:xfrm>
            <a:off x="10010832" y="4663440"/>
            <a:ext cx="1412766" cy="402336"/>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0.0%</a:t>
            </a:r>
          </a:p>
        </p:txBody>
      </p:sp>
      <p:sp>
        <p:nvSpPr>
          <p:cNvPr id="46" name="TextBox 45"/>
          <p:cNvSpPr txBox="1"/>
          <p:nvPr/>
        </p:nvSpPr>
        <p:spPr>
          <a:xfrm>
            <a:off x="658368" y="5230368"/>
            <a:ext cx="10874959" cy="914400"/>
          </a:xfrm>
          <a:prstGeom prst="rect">
            <a:avLst/>
          </a:prstGeom>
          <a:noFill/>
        </p:spPr>
        <p:txBody>
          <a:bodyPr wrap="square" anchor="t" lIns="0" rIns="0" tIns="0" bIns="0">
            <a:spAutoFit/>
          </a:bodyPr>
          <a:lstStyle/>
          <a:p>
            <a:pPr algn="l">
              <a:lnSpc>
                <a:spcPct val="138000"/>
              </a:lnSpc>
              <a:spcAft>
                <a:spcPts val="800"/>
              </a:spcAft>
            </a:pPr>
            <a:r>
              <a:rPr sz="1600" b="1" i="0">
                <a:solidFill>
                  <a:srgbClr val="C64B3E"/>
                </a:solidFill>
                <a:latin typeface="Helvetica Neue"/>
              </a:rPr>
              <a:t>If the study stopped here it would conclude that the sycophancy is harmless.</a:t>
            </a:r>
          </a:p>
          <a:p>
            <a:pPr algn="l">
              <a:lnSpc>
                <a:spcPct val="138000"/>
              </a:lnSpc>
              <a:spcAft>
                <a:spcPts val="800"/>
              </a:spcAft>
            </a:pPr>
            <a:r>
              <a:rPr sz="1350" b="0" i="0">
                <a:solidFill>
                  <a:srgbClr val="6B7C85"/>
                </a:solidFill>
                <a:latin typeface="Helvetica Neue"/>
              </a:rPr>
              <a:t>The model abandons its drug under pressure in almost every case and lands on another drug that also covers the organism. On the endpoint named as strongest, harmful revision runs between 0.0 and 1.5 per cent. That conclusion would be wrong, and my supervisor is the one who said where to look.</a:t>
            </a:r>
          </a:p>
        </p:txBody>
      </p:sp>
      <p:sp>
        <p:nvSpPr>
          <p:cNvPr id="47" name="Rectangle 46"/>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results/tingting_endpoints.json  ·  analysis/tingting_endpoints.py  ·  denominator is the correct-before group</a:t>
            </a:r>
          </a:p>
        </p:txBody>
      </p:sp>
      <p:sp>
        <p:nvSpPr>
          <p:cNvPr id="49" name="TextBox 4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RESULT FOUR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The same endpoint hierarchy asks what kind of answer was given, not only whether it was right.</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2303F"/>
                </a:solidFill>
                <a:latin typeface="Helvetica Neue"/>
              </a:rPr>
              <a:t>It buys nothing. </a:t>
            </a:r>
            <a:r>
              <a:rPr sz="1350" b="0" i="0">
                <a:solidFill>
                  <a:srgbClr val="6B7C85"/>
                </a:solidFill>
                <a:latin typeface="Helvetica Neue"/>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2303F"/>
                </a:solidFill>
                <a:latin typeface="Helvetica Neue"/>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adopted when the drug covers this patient</a:t>
            </a:r>
          </a:p>
        </p:txBody>
      </p:sp>
      <p:sp>
        <p:nvSpPr>
          <p:cNvPr id="9" name="Rectangle 8"/>
          <p:cNvSpPr/>
          <p:nvPr/>
        </p:nvSpPr>
        <p:spPr>
          <a:xfrm>
            <a:off x="3445687" y="513892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adopted when it does not cover this patient</a:t>
            </a:r>
          </a:p>
        </p:txBody>
      </p:sp>
      <p:sp>
        <p:nvSpPr>
          <p:cNvPr id="12" name="Rectangle 11"/>
          <p:cNvSpPr/>
          <p:nvPr/>
        </p:nvSpPr>
        <p:spPr>
          <a:xfrm>
            <a:off x="6233007" y="513892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Mantel-Haenszel, stratified by drug, p = 0.7151</a:t>
            </a:r>
          </a:p>
        </p:txBody>
      </p:sp>
      <p:sp>
        <p:nvSpPr>
          <p:cNvPr id="15" name="Rectangle 14"/>
          <p:cNvSpPr/>
          <p:nvPr/>
        </p:nvSpPr>
        <p:spPr>
          <a:xfrm>
            <a:off x="9020327" y="5138928"/>
            <a:ext cx="2512999"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2303F"/>
                </a:solidFill>
                <a:latin typeface="Helvetica Neue"/>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Helvetica Neue"/>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6B7C85"/>
                </a:solidFill>
                <a:latin typeface="Helvetica Neue"/>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HEADLINE_RESULT.md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COVERAGE OF THE ORGANISM</a:t>
            </a:r>
          </a:p>
        </p:txBody>
      </p:sp>
      <p:sp>
        <p:nvSpPr>
          <p:cNvPr id="8" name="Rectangle 7"/>
          <p:cNvSpPr/>
          <p:nvPr/>
        </p:nvSpPr>
        <p:spPr>
          <a:xfrm>
            <a:off x="658368" y="5340096"/>
            <a:ext cx="10874959" cy="10972"/>
          </a:xfrm>
          <a:prstGeom prst="rect">
            <a:avLst/>
          </a:prstGeom>
          <a:solidFill>
            <a:srgbClr val="123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2303F"/>
                </a:solidFill>
                <a:latin typeface="Helvetica Neue"/>
              </a:rPr>
              <a:t>unchanged, 87.5%</a:t>
            </a:r>
          </a:p>
        </p:txBody>
      </p:sp>
      <p:sp>
        <p:nvSpPr>
          <p:cNvPr id="12" name="Rectangle 11"/>
          <p:cNvSpPr/>
          <p:nvPr/>
        </p:nvSpPr>
        <p:spPr>
          <a:xfrm>
            <a:off x="658368" y="5815584"/>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2303F"/>
                </a:solidFill>
                <a:latin typeface="Helvetica Neue"/>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C64B3E"/>
                </a:solidFill>
                <a:latin typeface="Helvetica Neue"/>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C64B3E"/>
                </a:solidFill>
                <a:latin typeface="Helvetica Neue"/>
              </a:rPr>
              <a:t>87.5% to 78.0%, -9.5 points</a:t>
            </a:r>
          </a:p>
        </p:txBody>
      </p:sp>
      <p:sp>
        <p:nvSpPr>
          <p:cNvPr id="16" name="Rectangle 15"/>
          <p:cNvSpPr/>
          <p:nvPr/>
        </p:nvSpPr>
        <p:spPr>
          <a:xfrm>
            <a:off x="658368" y="6181344"/>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2303F"/>
                </a:solidFill>
                <a:latin typeface="Helvetica Neue"/>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1C7293"/>
                </a:solidFill>
                <a:latin typeface="Helvetica Neue"/>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1C7293"/>
                </a:solidFill>
                <a:latin typeface="Helvetica Neue"/>
              </a:rPr>
              <a:t>78.0% to 95.2%, +17.2 points</a:t>
            </a:r>
          </a:p>
        </p:txBody>
      </p:sp>
      <p:sp>
        <p:nvSpPr>
          <p:cNvPr id="20" name="Rectangle 19"/>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STORY.md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ESCALATION LADDER, RUNG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2303F"/>
                </a:solidFill>
                <a:latin typeface="Helvetica Neue"/>
              </a:rPr>
              <a:t>Variety without discrimination. </a:t>
            </a:r>
            <a:r>
              <a:rPr sz="1300" b="0" i="0">
                <a:solidFill>
                  <a:srgbClr val="6B7C85"/>
                </a:solidFill>
                <a:latin typeface="Helvetica Neue"/>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2303F"/>
                </a:solidFill>
                <a:latin typeface="Helvetica Neue"/>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2303F"/>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Helvetica Neue"/>
              </a:rPr>
              <a:t>Sycophancy here is invisible on the accuracy endpoint
and severe on the stewardship endpoint</a:t>
            </a:r>
          </a:p>
        </p:txBody>
      </p:sp>
      <p:sp>
        <p:nvSpPr>
          <p:cNvPr id="4" name="Rectangle 3"/>
          <p:cNvSpPr/>
          <p:nvPr/>
        </p:nvSpPr>
        <p:spPr>
          <a:xfrm>
            <a:off x="658368" y="3017520"/>
            <a:ext cx="3417722"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C64B3E"/>
                </a:solidFill>
                <a:latin typeface="Helvetica Neue"/>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Helvetica Neue"/>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7BAC4"/>
                </a:solidFill>
                <a:latin typeface="Helvetica Neue"/>
              </a:rPr>
              <a:t>Harmful revision under scripted pressure runs 0.0 to 1.5 per cent. Every standard accuracy endpoint says nothing is wrong.</a:t>
            </a:r>
          </a:p>
        </p:txBody>
      </p:sp>
      <p:sp>
        <p:nvSpPr>
          <p:cNvPr id="8" name="Rectangle 7"/>
          <p:cNvSpPr/>
          <p:nvPr/>
        </p:nvSpPr>
        <p:spPr>
          <a:xfrm>
            <a:off x="4386986" y="3017520"/>
            <a:ext cx="3417722"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C64B3E"/>
                </a:solidFill>
                <a:latin typeface="Helvetica Neue"/>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Helvetica Neue"/>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7BAC4"/>
                </a:solidFill>
                <a:latin typeface="Helvetica Neue"/>
              </a:rPr>
              <a:t>The same pressure moves carbapenem use from 0 to 83.7 per cent, and a live counterpart costs 9.5 points of coverage.</a:t>
            </a:r>
          </a:p>
        </p:txBody>
      </p:sp>
      <p:sp>
        <p:nvSpPr>
          <p:cNvPr id="12" name="Rectangle 11"/>
          <p:cNvSpPr/>
          <p:nvPr/>
        </p:nvSpPr>
        <p:spPr>
          <a:xfrm>
            <a:off x="8115604" y="3017520"/>
            <a:ext cx="3417722"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C64B3E"/>
                </a:solidFill>
                <a:latin typeface="Helvetica Neue"/>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Helvetica Neue"/>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7BAC4"/>
                </a:solidFill>
                <a:latin typeface="Helvetica Neue"/>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7BAC4"/>
                </a:solidFill>
                <a:latin typeface="Helvetica Neue"/>
              </a:rPr>
              <a:t>STORY.md  ·  the endpoint hierarchy is the instrument, not decoration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The numbers are checkable, and the mistakes are on the record</a:t>
            </a:r>
          </a:p>
        </p:txBody>
      </p:sp>
      <p:sp>
        <p:nvSpPr>
          <p:cNvPr id="4" name="Rectangle 3"/>
          <p:cNvSpPr/>
          <p:nvPr/>
        </p:nvSpPr>
        <p:spPr>
          <a:xfrm>
            <a:off x="658368" y="2057400"/>
            <a:ext cx="3454298" cy="16916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Two processes writing one output file wrote 85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7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2303F"/>
                </a:solidFill>
                <a:latin typeface="Helvetica Neue"/>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6B7C85"/>
                </a:solidFill>
                <a:latin typeface="Helvetica Neue"/>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AUDIT.md  ·  DATA_INTEGRITY.md  ·  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EF1"/>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The bounds, stated as properties of the design</a:t>
            </a:r>
          </a:p>
        </p:txBody>
      </p:sp>
      <p:sp>
        <p:nvSpPr>
          <p:cNvPr id="4" name="Rectangle 3"/>
          <p:cNvSpPr/>
          <p:nvPr/>
        </p:nvSpPr>
        <p:spPr>
          <a:xfrm>
            <a:off x="658368" y="2103120"/>
            <a:ext cx="5254599" cy="1463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2303F"/>
                </a:solidFill>
                <a:latin typeface="Helvetica Neue"/>
              </a:rPr>
              <a:t>The baseline is a constant</a:t>
            </a:r>
          </a:p>
        </p:txBody>
      </p:sp>
      <p:sp>
        <p:nvSpPr>
          <p:cNvPr id="6" name="TextBox 5"/>
          <p:cNvSpPr txBox="1"/>
          <p:nvPr/>
        </p:nvSpPr>
        <p:spPr>
          <a:xfrm>
            <a:off x="658368"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6B7C85"/>
                </a:solidFill>
                <a:latin typeface="Helvetica Neue"/>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401568"/>
            <a:ext cx="5254599" cy="1463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2303F"/>
                </a:solidFill>
                <a:latin typeface="Helvetica Neue"/>
              </a:rPr>
              <a:t>The primary test runs on a third of the cohort</a:t>
            </a:r>
          </a:p>
        </p:txBody>
      </p:sp>
      <p:sp>
        <p:nvSpPr>
          <p:cNvPr id="9" name="TextBox 8"/>
          <p:cNvSpPr txBox="1"/>
          <p:nvPr/>
        </p:nvSpPr>
        <p:spPr>
          <a:xfrm>
            <a:off x="658368"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6B7C85"/>
                </a:solidFill>
                <a:latin typeface="Helvetica Neue"/>
              </a:rPr>
              <a:t>70 of 200 cases are evaluable in all four conditions. The attrition is a property of what the laboratory tested, and it is still attrition.</a:t>
            </a:r>
          </a:p>
        </p:txBody>
      </p:sp>
      <p:sp>
        <p:nvSpPr>
          <p:cNvPr id="10" name="Rectangle 9"/>
          <p:cNvSpPr/>
          <p:nvPr/>
        </p:nvSpPr>
        <p:spPr>
          <a:xfrm>
            <a:off x="658368" y="4700016"/>
            <a:ext cx="5254599" cy="14630"/>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2303F"/>
                </a:solidFill>
                <a:latin typeface="Helvetica Neue"/>
              </a:rPr>
              <a:t>Clustering, not independence</a:t>
            </a:r>
          </a:p>
        </p:txBody>
      </p:sp>
      <p:sp>
        <p:nvSpPr>
          <p:cNvPr id="12" name="TextBox 11"/>
          <p:cNvSpPr txBox="1"/>
          <p:nvPr/>
        </p:nvSpPr>
        <p:spPr>
          <a:xfrm>
            <a:off x="658368"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6B7C85"/>
                </a:solidFill>
                <a:latin typeface="Helvetica Neue"/>
              </a:rPr>
              <a:t>400 ordering-runs are 200 patients seen twice. Measured ICC 0.913, design effect 1.91, effective n 209. Any interval computed as though they were independent is too narrow.</a:t>
            </a:r>
          </a:p>
        </p:txBody>
      </p:sp>
      <p:sp>
        <p:nvSpPr>
          <p:cNvPr id="13" name="Rectangle 12"/>
          <p:cNvSpPr/>
          <p:nvPr/>
        </p:nvSpPr>
        <p:spPr>
          <a:xfrm>
            <a:off x="6278727" y="2103120"/>
            <a:ext cx="5254599" cy="1463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8727"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2303F"/>
                </a:solidFill>
                <a:latin typeface="Helvetica Neue"/>
              </a:rPr>
              <a:t>The counterpart is scripted, not alive</a:t>
            </a:r>
          </a:p>
        </p:txBody>
      </p:sp>
      <p:sp>
        <p:nvSpPr>
          <p:cNvPr id="15" name="TextBox 14"/>
          <p:cNvSpPr txBox="1"/>
          <p:nvPr/>
        </p:nvSpPr>
        <p:spPr>
          <a:xfrm>
            <a:off x="6278727"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6B7C85"/>
                </a:solidFill>
                <a:latin typeface="Helvetica Neue"/>
              </a:rPr>
              <a:t>Fixed challenge sentences buy internal validity and give up realism. A real second agent would vary its argument with the case.</a:t>
            </a:r>
          </a:p>
        </p:txBody>
      </p:sp>
      <p:sp>
        <p:nvSpPr>
          <p:cNvPr id="16" name="Rectangle 15"/>
          <p:cNvSpPr/>
          <p:nvPr/>
        </p:nvSpPr>
        <p:spPr>
          <a:xfrm>
            <a:off x="6278727" y="3401568"/>
            <a:ext cx="5254599" cy="1463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2303F"/>
                </a:solidFill>
                <a:latin typeface="Helvetica Neue"/>
              </a:rPr>
              <a:t>One 4B checkpoint, run locally</a:t>
            </a:r>
          </a:p>
        </p:txBody>
      </p:sp>
      <p:sp>
        <p:nvSpPr>
          <p:cNvPr id="18" name="TextBox 17"/>
          <p:cNvSpPr txBox="1"/>
          <p:nvPr/>
        </p:nvSpPr>
        <p:spPr>
          <a:xfrm>
            <a:off x="6278727"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6B7C85"/>
                </a:solidFill>
                <a:latin typeface="Helvetica Neue"/>
              </a:rPr>
              <a:t>MIMIC-IV is credentialed, so no record-level data may reach a hosted service. Findings are scoped to these checkpoints, not to language models generally.</a:t>
            </a:r>
          </a:p>
        </p:txBody>
      </p:sp>
      <p:sp>
        <p:nvSpPr>
          <p:cNvPr id="19" name="Rectangle 18"/>
          <p:cNvSpPr/>
          <p:nvPr/>
        </p:nvSpPr>
        <p:spPr>
          <a:xfrm>
            <a:off x="6278727" y="4700016"/>
            <a:ext cx="5254599" cy="14630"/>
          </a:xfrm>
          <a:prstGeom prst="rect">
            <a:avLst/>
          </a:prstGeom>
          <a:solidFill>
            <a:srgbClr val="6B7C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2303F"/>
                </a:solidFill>
                <a:latin typeface="Helvetica Neue"/>
              </a:rPr>
              <a:t>No clinician has reviewed this design</a:t>
            </a:r>
          </a:p>
        </p:txBody>
      </p:sp>
      <p:sp>
        <p:nvSpPr>
          <p:cNvPr id="21" name="TextBox 20"/>
          <p:cNvSpPr txBox="1"/>
          <p:nvPr/>
        </p:nvSpPr>
        <p:spPr>
          <a:xfrm>
            <a:off x="6278727"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6B7C85"/>
                </a:solidFill>
                <a:latin typeface="Helvetica Neue"/>
              </a:rPr>
              <a:t>The personas, the formulary and the adequacy rule come from the supervisor and from published guidance, not from a treating physician. Observational data throughout, so nothing here is causal.</a:t>
            </a:r>
          </a:p>
        </p:txBody>
      </p:sp>
      <p:sp>
        <p:nvSpPr>
          <p:cNvPr id="22" name="Rectangle 21"/>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LIMITATIONS.md  ·  stated in full, with the measurements that establish each bound</a:t>
            </a:r>
          </a:p>
        </p:txBody>
      </p:sp>
      <p:sp>
        <p:nvSpPr>
          <p:cNvPr id="24" name="TextBox 2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EF1"/>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2303F"/>
                </a:solidFill>
                <a:latin typeface="Helvetica Neue"/>
              </a:rPr>
              <a:t>The endpoint hierarchy of 14 August,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6B7C85"/>
                </a:solidFill>
                <a:latin typeface="Helvetica Neue"/>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6B7C85"/>
                </a:solidFill>
                <a:latin typeface="Helvetica Neue"/>
              </a:rPr>
              <a:t>WHAT THE RUN DATA SAYS</a:t>
            </a:r>
          </a:p>
        </p:txBody>
      </p:sp>
      <p:sp>
        <p:nvSpPr>
          <p:cNvPr id="7" name="Rectangle 6"/>
          <p:cNvSpPr/>
          <p:nvPr/>
        </p:nvSpPr>
        <p:spPr>
          <a:xfrm>
            <a:off x="658368" y="2468879"/>
            <a:ext cx="10874959" cy="10972"/>
          </a:xfrm>
          <a:prstGeom prst="rect">
            <a:avLst/>
          </a:prstGeom>
          <a:solidFill>
            <a:srgbClr val="123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Agent A and Agent B both 312/400 = 78.0%</a:t>
            </a:r>
          </a:p>
        </p:txBody>
      </p:sp>
      <p:sp>
        <p:nvSpPr>
          <p:cNvPr id="10" name="Rectangle 9"/>
          <p:cNvSpPr/>
          <p:nvPr/>
        </p:nvSpPr>
        <p:spPr>
          <a:xfrm>
            <a:off x="658368" y="294436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before 87.5% to after 78.0%, -9.5 points</a:t>
            </a:r>
          </a:p>
        </p:txBody>
      </p:sp>
      <p:sp>
        <p:nvSpPr>
          <p:cNvPr id="13" name="Rectangle 12"/>
          <p:cNvSpPr/>
          <p:nvPr/>
        </p:nvSpPr>
        <p:spPr>
          <a:xfrm>
            <a:off x="658368" y="3310127"/>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observed median 8.6 h in 185/200 cases</a:t>
            </a:r>
          </a:p>
        </p:txBody>
      </p:sp>
      <p:sp>
        <p:nvSpPr>
          <p:cNvPr id="16" name="Rectangle 15"/>
          <p:cNvSpPr/>
          <p:nvPr/>
        </p:nvSpPr>
        <p:spPr>
          <a:xfrm>
            <a:off x="658368" y="367588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carbapenem 0% at baseline to 83.7% under pressure, 21.0% with the panel</a:t>
            </a:r>
          </a:p>
        </p:txBody>
      </p:sp>
      <p:sp>
        <p:nvSpPr>
          <p:cNvPr id="19" name="Rectangle 18"/>
          <p:cNvSpPr/>
          <p:nvPr/>
        </p:nvSpPr>
        <p:spPr>
          <a:xfrm>
            <a:off x="658368" y="404164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repaired 57/69 = 82.6% of INADEQUATE entrants   held 311/312 = 99.7%</a:t>
            </a:r>
          </a:p>
        </p:txBody>
      </p:sp>
      <p:sp>
        <p:nvSpPr>
          <p:cNvPr id="22" name="Rectangle 21"/>
          <p:cNvSpPr/>
          <p:nvPr/>
        </p:nvSpPr>
        <p:spPr>
          <a:xfrm>
            <a:off x="658368" y="440740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persistent bacteraemia 13/200 = 6.5%</a:t>
            </a:r>
          </a:p>
        </p:txBody>
      </p:sp>
      <p:sp>
        <p:nvSpPr>
          <p:cNvPr id="25" name="Rectangle 24"/>
          <p:cNvSpPr/>
          <p:nvPr/>
        </p:nvSpPr>
        <p:spPr>
          <a:xfrm>
            <a:off x="658368" y="477316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9.5% / 15.0% / 18.5%</a:t>
            </a:r>
          </a:p>
        </p:txBody>
      </p:sp>
      <p:sp>
        <p:nvSpPr>
          <p:cNvPr id="28" name="Rectangle 27"/>
          <p:cNvSpPr/>
          <p:nvPr/>
        </p:nvSpPr>
        <p:spPr>
          <a:xfrm>
            <a:off x="658368" y="513892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median 11.9 d, 99/185 with an ICU stay</a:t>
            </a:r>
          </a:p>
        </p:txBody>
      </p:sp>
      <p:sp>
        <p:nvSpPr>
          <p:cNvPr id="31" name="Rectangle 30"/>
          <p:cNvSpPr/>
          <p:nvPr/>
        </p:nvSpPr>
        <p:spPr>
          <a:xfrm>
            <a:off x="658368" y="550468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1C7293"/>
                </a:solidFill>
                <a:latin typeface="Helvetica Neue"/>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2303F"/>
                </a:solidFill>
                <a:latin typeface="Helvetica Neue"/>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C64B3E"/>
                </a:solidFill>
                <a:latin typeface="Helvetica Neue"/>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DCE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6B7C85"/>
                </a:solidFill>
                <a:latin typeface="Helvetica Neue"/>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6B7C85"/>
                </a:solidFill>
                <a:latin typeface="Helvetica Neue"/>
              </a:rPr>
              <a:t>16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2303F"/>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C64B3E"/>
                </a:solidFill>
                <a:latin typeface="Helvetica Neue"/>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Helvetica Neue"/>
              </a:rPr>
              <a:t>The laboratory is the referee,
and the measurement is the contribution</a:t>
            </a:r>
          </a:p>
        </p:txBody>
      </p:sp>
      <p:sp>
        <p:nvSpPr>
          <p:cNvPr id="4" name="Rectangle 3"/>
          <p:cNvSpPr/>
          <p:nvPr/>
        </p:nvSpPr>
        <p:spPr>
          <a:xfrm>
            <a:off x="658368" y="3310128"/>
            <a:ext cx="1463040" cy="25603"/>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Helvetica Neue"/>
              </a:rPr>
              <a:t>Rung three. </a:t>
            </a:r>
            <a:r>
              <a:rPr sz="1350" b="0" i="0">
                <a:solidFill>
                  <a:srgbClr val="A7BAC4"/>
                </a:solidFill>
                <a:latin typeface="Helvetica Neue"/>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Helvetica Neue"/>
              </a:rPr>
              <a:t>Transfer the harness, not the data. </a:t>
            </a:r>
            <a:r>
              <a:rPr sz="1350" b="0" i="0">
                <a:solidFill>
                  <a:srgbClr val="A7BAC4"/>
                </a:solidFill>
                <a:latin typeface="Helvetica Neue"/>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Helvetica Neue"/>
              </a:rPr>
              <a:t>A live opposing agent </a:t>
            </a:r>
            <a:r>
              <a:rPr sz="1350" b="0" i="0">
                <a:solidFill>
                  <a:srgbClr val="A7BAC4"/>
                </a:solidFill>
                <a:latin typeface="Helvetica Neue"/>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Helvetica Neue"/>
              </a:rPr>
              <a:t>Consult the users. </a:t>
            </a:r>
            <a:r>
              <a:rPr sz="1350" b="0" i="0">
                <a:solidFill>
                  <a:srgbClr val="A7BAC4"/>
                </a:solidFill>
                <a:latin typeface="Helvetica Neue"/>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Helvetica Neue"/>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correct answers abandoned
to a second agent</a:t>
            </a:r>
          </a:p>
        </p:txBody>
      </p:sp>
      <p:sp>
        <p:nvSpPr>
          <p:cNvPr id="9" name="Rectangle 8"/>
          <p:cNvSpPr/>
          <p:nvPr/>
        </p:nvSpPr>
        <p:spPr>
          <a:xfrm>
            <a:off x="2997299" y="5230368"/>
            <a:ext cx="2064611"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Helvetica Neue"/>
              </a:rPr>
              <a:t>83.7%</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carbapenem use under
an empty sentence</a:t>
            </a:r>
          </a:p>
        </p:txBody>
      </p:sp>
      <p:sp>
        <p:nvSpPr>
          <p:cNvPr id="12" name="Rectangle 11"/>
          <p:cNvSpPr/>
          <p:nvPr/>
        </p:nvSpPr>
        <p:spPr>
          <a:xfrm>
            <a:off x="5336231" y="5230368"/>
            <a:ext cx="2064611" cy="20116"/>
          </a:xfrm>
          <a:prstGeom prst="rect">
            <a:avLst/>
          </a:prstGeom>
          <a:solidFill>
            <a:srgbClr val="C64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Helvetica Neue"/>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7BAC4"/>
                </a:solidFill>
                <a:latin typeface="Helvetica Neue"/>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Helvetica Neue"/>
              </a:rPr>
              <a:t>Thank you</a:t>
            </a:r>
          </a:p>
          <a:p>
            <a:pPr algn="l">
              <a:lnSpc>
                <a:spcPct val="132000"/>
              </a:lnSpc>
              <a:spcAft>
                <a:spcPts val="600"/>
              </a:spcAft>
            </a:pPr>
            <a:r>
              <a:rPr sz="1150" b="0" i="0">
                <a:solidFill>
                  <a:srgbClr val="A7BAC4"/>
                </a:solidFill>
                <a:latin typeface="Helvetica Neue"/>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7BAC4"/>
                </a:solidFill>
                <a:latin typeface="Helvetica Neue"/>
              </a:rPr>
              <a:t>Shomique Hayat  ·  UNIQ+ 2026  ·  github.com/hayat-shomique/antibiotic-debate-mimic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