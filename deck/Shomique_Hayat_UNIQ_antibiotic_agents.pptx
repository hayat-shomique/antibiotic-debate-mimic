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312</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70 cases did the model change its recommendation because a neutral</a:t>
            </a:r>
          </a:p>
          <a:p>
            <a:r>
              <a:t>interlocutor spoke to it. Under unsupported pressure it changed in 63 to 70 of the same cases.</a:t>
            </a:r>
          </a:p>
          <a:p>
            <a:r>
              <a:t>p is on the order of ten to the minus twenty-one.</a:t>
            </a:r>
          </a:p>
          <a:p>
            <a:r>
              <a:t>The honest part: this runs on 70 cases. Two different things reduce it, and I keep them</a:t>
            </a:r>
          </a:p>
          <a:p>
            <a:r>
              <a:t>separate. The pressure arm ran 78 of the 200 cases in my selection, so 122 cases have no</a:t>
            </a:r>
          </a:p>
          <a:p>
            <a:r>
              <a:t>pressure row at all, and 8 more drop because a condition came back indeterminate. Those 78 are the</a:t>
            </a:r>
          </a:p>
          <a:p>
            <a:r>
              <a:t>first 78 of a seeded random selection rather than a chosen subset, and baseline adequacy inside them</a:t>
            </a:r>
          </a:p>
          <a:p>
            <a:r>
              <a:t>is 88.5 per cent against 87.5 across all 200, which is what an unbiased subsample looks like.</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0.0 to 1.5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261 of 312 exposures, 83.7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70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11</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200 cases evaluated.</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312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63 to 70</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2.2e-19</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70 of 78</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the pressure arm ran that are evaluable in all four conditions</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ran 78 of the 200 cases in the frozen selection, so 122 cases have no pressure row at all and 8 more are dropped for an indeterminate outcome. Those 78 are a contiguous prefix of a seeded random selection, and baseline adequacy inside them is 88.5% against 87.5% across all 200, which is what an unbiased subsample looks like.</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0.0 to 1.5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84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0.0 to 1.5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83.7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2103120"/>
            <a:ext cx="5254599" cy="1463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267712"/>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The baseline is a constant</a:t>
            </a:r>
          </a:p>
        </p:txBody>
      </p:sp>
      <p:sp>
        <p:nvSpPr>
          <p:cNvPr id="6" name="TextBox 5"/>
          <p:cNvSpPr txBox="1"/>
          <p:nvPr/>
        </p:nvSpPr>
        <p:spPr>
          <a:xfrm>
            <a:off x="658368" y="2651760"/>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3401568"/>
            <a:ext cx="5254599" cy="1463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The primary test runs on a third of the cohort</a:t>
            </a:r>
          </a:p>
        </p:txBody>
      </p:sp>
      <p:sp>
        <p:nvSpPr>
          <p:cNvPr id="9" name="TextBox 8"/>
          <p:cNvSpPr txBox="1"/>
          <p:nvPr/>
        </p:nvSpPr>
        <p:spPr>
          <a:xfrm>
            <a:off x="658368" y="3950207"/>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70 of 200 cases are evaluable in all four conditions. The attrition is a property of what the laboratory tested, and it is still attrition.</a:t>
            </a:r>
          </a:p>
        </p:txBody>
      </p:sp>
      <p:sp>
        <p:nvSpPr>
          <p:cNvPr id="10" name="Rectangle 9"/>
          <p:cNvSpPr/>
          <p:nvPr/>
        </p:nvSpPr>
        <p:spPr>
          <a:xfrm>
            <a:off x="658368" y="4700016"/>
            <a:ext cx="5254599" cy="1463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864607"/>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Clustering, not independence</a:t>
            </a:r>
          </a:p>
        </p:txBody>
      </p:sp>
      <p:sp>
        <p:nvSpPr>
          <p:cNvPr id="12" name="TextBox 11"/>
          <p:cNvSpPr txBox="1"/>
          <p:nvPr/>
        </p:nvSpPr>
        <p:spPr>
          <a:xfrm>
            <a:off x="658368" y="5248655"/>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3" name="Rectangle 12"/>
          <p:cNvSpPr/>
          <p:nvPr/>
        </p:nvSpPr>
        <p:spPr>
          <a:xfrm>
            <a:off x="6278727" y="2103120"/>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8727" y="2267712"/>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The counterpart is scripted, not alive</a:t>
            </a:r>
          </a:p>
        </p:txBody>
      </p:sp>
      <p:sp>
        <p:nvSpPr>
          <p:cNvPr id="15" name="TextBox 14"/>
          <p:cNvSpPr txBox="1"/>
          <p:nvPr/>
        </p:nvSpPr>
        <p:spPr>
          <a:xfrm>
            <a:off x="6278727" y="2651760"/>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Fixed challenge sentences buy internal validity and give up realism. A real second agent would vary its argument with the case.</a:t>
            </a:r>
          </a:p>
        </p:txBody>
      </p:sp>
      <p:sp>
        <p:nvSpPr>
          <p:cNvPr id="16" name="Rectangle 15"/>
          <p:cNvSpPr/>
          <p:nvPr/>
        </p:nvSpPr>
        <p:spPr>
          <a:xfrm>
            <a:off x="6278727" y="3401568"/>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3566160"/>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One 4B checkpoint, run locally</a:t>
            </a:r>
          </a:p>
        </p:txBody>
      </p:sp>
      <p:sp>
        <p:nvSpPr>
          <p:cNvPr id="18" name="TextBox 17"/>
          <p:cNvSpPr txBox="1"/>
          <p:nvPr/>
        </p:nvSpPr>
        <p:spPr>
          <a:xfrm>
            <a:off x="6278727" y="3950207"/>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MIMIC-IV is credentialed, so no record-level data may reach a hosted service. Findings are scoped to these checkpoints, not to language models generally.</a:t>
            </a:r>
          </a:p>
        </p:txBody>
      </p:sp>
      <p:sp>
        <p:nvSpPr>
          <p:cNvPr id="19" name="Rectangle 18"/>
          <p:cNvSpPr/>
          <p:nvPr/>
        </p:nvSpPr>
        <p:spPr>
          <a:xfrm>
            <a:off x="6278727" y="4700016"/>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4864607"/>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No clinician has reviewed this design</a:t>
            </a:r>
          </a:p>
        </p:txBody>
      </p:sp>
      <p:sp>
        <p:nvSpPr>
          <p:cNvPr id="21" name="TextBox 20"/>
          <p:cNvSpPr txBox="1"/>
          <p:nvPr/>
        </p:nvSpPr>
        <p:spPr>
          <a:xfrm>
            <a:off x="6278727" y="5248655"/>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22" name="Rectangle 2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24" name="TextBox 2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83.7%</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Rectangle 11"/>
          <p:cNvSpPr/>
          <p:nvPr/>
        </p:nvSpPr>
        <p:spPr>
          <a:xfrm>
            <a:off x="65836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5" name="TextBox 14"/>
          <p:cNvSpPr txBox="1"/>
          <p:nvPr/>
        </p:nvSpPr>
        <p:spPr>
          <a:xfrm>
            <a:off x="93268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6" name="Rectangle 15"/>
          <p:cNvSpPr/>
          <p:nvPr/>
        </p:nvSpPr>
        <p:spPr>
          <a:xfrm>
            <a:off x="436869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6869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01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19" name="TextBox 18"/>
          <p:cNvSpPr txBox="1"/>
          <p:nvPr/>
        </p:nvSpPr>
        <p:spPr>
          <a:xfrm>
            <a:off x="464301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0" name="Rectangle 19"/>
          <p:cNvSpPr/>
          <p:nvPr/>
        </p:nvSpPr>
        <p:spPr>
          <a:xfrm>
            <a:off x="807902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902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334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3" name="TextBox 22"/>
          <p:cNvSpPr txBox="1"/>
          <p:nvPr/>
        </p:nvSpPr>
        <p:spPr>
          <a:xfrm>
            <a:off x="835334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4" name="TextBox 23"/>
          <p:cNvSpPr txBox="1"/>
          <p:nvPr/>
        </p:nvSpPr>
        <p:spPr>
          <a:xfrm>
            <a:off x="658368" y="5577840"/>
            <a:ext cx="10874959" cy="457200"/>
          </a:xfrm>
          <a:prstGeom prst="rect">
            <a:avLst/>
          </a:prstGeom>
          <a:noFill/>
        </p:spPr>
        <p:txBody>
          <a:bodyPr wrap="square" anchor="t" lIns="0" rIns="0" tIns="0" bIns="0">
            <a:spAutoFit/>
          </a:bodyPr>
          <a:lstStyle/>
          <a:p>
            <a:pPr algn="l">
              <a:lnSpc>
                <a:spcPct val="135000"/>
              </a:lnSpc>
              <a:spcAft>
                <a:spcPts val="0"/>
              </a:spcAft>
            </a:pPr>
            <a:r>
              <a:rPr sz="1300" b="0" i="0">
                <a:solidFill>
                  <a:srgbClr val="525252"/>
                </a:solidFill>
                <a:latin typeface="IBM Plex Sans"/>
              </a:rPr>
              <a:t>The two identities were chosen to carry a real clinical tension rather than an invented one. If deference exists, opposed incentives should make it visible.</a:t>
            </a:r>
          </a:p>
        </p:txBody>
      </p:sp>
      <p:sp>
        <p:nvSpPr>
          <p:cNvPr id="25" name="Rectangle 2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312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4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39" name="Rectangle 38"/>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1" name="TextBox 40"/>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2" name="TextBox 41"/>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3" name="TextBox 42"/>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4" name="Rectangle 4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46" name="TextBox 4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85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83.7%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57/69 = 82.6% of INADEQUATE entrants   held 311/312 = 99.7%</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