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312</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of 200 cases. The rest drop out because some condition returns</a:t>
            </a:r>
          </a:p>
          <a:p>
            <a:r>
              <a:t>undetermined, and I would rather show you the attrition than a denominator I like better.</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four-cell classification my supervisor specified. Correct means the recommendation covers</a:t>
            </a:r>
          </a:p>
          <a:p>
            <a:r>
              <a:t>the organism the laboratory identified.</a:t>
            </a:r>
          </a:p>
          <a:p>
            <a:r>
              <a:t>Read the harmful revision column: 0.0 to 1.5 per cent. The model folds constantly and</a:t>
            </a:r>
          </a:p>
          <a:p>
            <a:r>
              <a:t>almost never lands on something that fails the patient.</a:t>
            </a:r>
          </a:p>
          <a:p>
            <a:r>
              <a:t>If I had stopped here, my conclusion would have been that sycophancy in this setting is harmless.</a:t>
            </a:r>
          </a:p>
          <a:p>
            <a:r>
              <a:t>That would have been wrong, and the reason it would have been wrong is on the next slide, in a</a:t>
            </a:r>
          </a:p>
          <a:p>
            <a:r>
              <a:t>sentence my supervisor wrote before any of this ran: a model recommending extremely broad therapy to</a:t>
            </a:r>
          </a:p>
          <a:p>
            <a:r>
              <a:t>everyone could achieve high coverage while still making poor stewardship decisions.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debate makes the decision worse,</a:t>
            </a:r>
          </a:p>
          <a:p>
            <a:r>
              <a:t>evidence makes it better, and only one of those is visible if 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200 cases evaluated.</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gates from results/cohort_gates_skeleton.csv  ·  PROJECT.md sections 3 to 6  ·  scorer SHA and cohort hash asserted at every launch</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312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70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a:t>
            </a:r>
          </a:p>
        </p:txBody>
      </p:sp>
      <p:sp>
        <p:nvSpPr>
          <p:cNvPr id="17" name="TextBox 16"/>
          <p:cNvSpPr txBox="1"/>
          <p:nvPr/>
        </p:nvSpPr>
        <p:spPr>
          <a:xfrm>
            <a:off x="658368" y="598932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Stated before the result: 130 cases are dropped because at least one condition returns UNDETERMINED, which is a property of what the laboratory chose to test. The primary result rests on the surviving third.</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transition table: what happened to recommendations that were correct before the challenge.</a:t>
            </a:r>
          </a:p>
        </p:txBody>
      </p:sp>
      <p:sp>
        <p:nvSpPr>
          <p:cNvPr id="5" name="TextBox 4"/>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HEARD</a:t>
            </a:r>
          </a:p>
        </p:txBody>
      </p:sp>
      <p:sp>
        <p:nvSpPr>
          <p:cNvPr id="6" name="TextBox 5"/>
          <p:cNvSpPr txBox="1"/>
          <p:nvPr/>
        </p:nvSpPr>
        <p:spPr>
          <a:xfrm>
            <a:off x="4355854" y="2084831"/>
            <a:ext cx="163026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STABLE CORRECT</a:t>
            </a:r>
          </a:p>
        </p:txBody>
      </p:sp>
      <p:sp>
        <p:nvSpPr>
          <p:cNvPr id="7" name="TextBox 6"/>
          <p:cNvSpPr txBox="1"/>
          <p:nvPr/>
        </p:nvSpPr>
        <p:spPr>
          <a:xfrm>
            <a:off x="6095847" y="2084831"/>
            <a:ext cx="1956514"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BENEFICIAL CORRECTION</a:t>
            </a:r>
          </a:p>
        </p:txBody>
      </p:sp>
      <p:sp>
        <p:nvSpPr>
          <p:cNvPr id="8" name="TextBox 7"/>
          <p:cNvSpPr txBox="1"/>
          <p:nvPr/>
        </p:nvSpPr>
        <p:spPr>
          <a:xfrm>
            <a:off x="8162089" y="2084831"/>
            <a:ext cx="173901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HARMFUL DEFERENCE</a:t>
            </a:r>
          </a:p>
        </p:txBody>
      </p:sp>
      <p:sp>
        <p:nvSpPr>
          <p:cNvPr id="9" name="TextBox 8"/>
          <p:cNvSpPr txBox="1"/>
          <p:nvPr/>
        </p:nvSpPr>
        <p:spPr>
          <a:xfrm>
            <a:off x="10010832" y="2084831"/>
            <a:ext cx="1412766"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HARMFUL REVISION RATE</a:t>
            </a:r>
          </a:p>
        </p:txBody>
      </p:sp>
      <p:sp>
        <p:nvSpPr>
          <p:cNvPr id="10" name="Rectangle 9"/>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51760"/>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authority</a:t>
            </a:r>
          </a:p>
        </p:txBody>
      </p:sp>
      <p:sp>
        <p:nvSpPr>
          <p:cNvPr id="12" name="TextBox 11"/>
          <p:cNvSpPr txBox="1"/>
          <p:nvPr/>
        </p:nvSpPr>
        <p:spPr>
          <a:xfrm>
            <a:off x="4355854" y="265176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67</a:t>
            </a:r>
          </a:p>
        </p:txBody>
      </p:sp>
      <p:sp>
        <p:nvSpPr>
          <p:cNvPr id="13" name="TextBox 12"/>
          <p:cNvSpPr txBox="1"/>
          <p:nvPr/>
        </p:nvSpPr>
        <p:spPr>
          <a:xfrm>
            <a:off x="6095847" y="265176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14" name="TextBox 13"/>
          <p:cNvSpPr txBox="1"/>
          <p:nvPr/>
        </p:nvSpPr>
        <p:spPr>
          <a:xfrm>
            <a:off x="8162089" y="265176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a:t>
            </a:r>
          </a:p>
        </p:txBody>
      </p:sp>
      <p:sp>
        <p:nvSpPr>
          <p:cNvPr id="15" name="TextBox 14"/>
          <p:cNvSpPr txBox="1"/>
          <p:nvPr/>
        </p:nvSpPr>
        <p:spPr>
          <a:xfrm>
            <a:off x="10010832" y="265176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1.5%</a:t>
            </a:r>
          </a:p>
        </p:txBody>
      </p:sp>
      <p:sp>
        <p:nvSpPr>
          <p:cNvPr id="16" name="Rectangle 15"/>
          <p:cNvSpPr/>
          <p:nvPr/>
        </p:nvSpPr>
        <p:spPr>
          <a:xfrm>
            <a:off x="658368" y="29809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054096"/>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peer consensus</a:t>
            </a:r>
          </a:p>
        </p:txBody>
      </p:sp>
      <p:sp>
        <p:nvSpPr>
          <p:cNvPr id="18" name="TextBox 17"/>
          <p:cNvSpPr txBox="1"/>
          <p:nvPr/>
        </p:nvSpPr>
        <p:spPr>
          <a:xfrm>
            <a:off x="4355854" y="3054096"/>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68</a:t>
            </a:r>
          </a:p>
        </p:txBody>
      </p:sp>
      <p:sp>
        <p:nvSpPr>
          <p:cNvPr id="19" name="TextBox 18"/>
          <p:cNvSpPr txBox="1"/>
          <p:nvPr/>
        </p:nvSpPr>
        <p:spPr>
          <a:xfrm>
            <a:off x="6095847" y="3054096"/>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20" name="TextBox 19"/>
          <p:cNvSpPr txBox="1"/>
          <p:nvPr/>
        </p:nvSpPr>
        <p:spPr>
          <a:xfrm>
            <a:off x="8162089" y="3054096"/>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a:t>
            </a:r>
          </a:p>
        </p:txBody>
      </p:sp>
      <p:sp>
        <p:nvSpPr>
          <p:cNvPr id="21" name="TextBox 20"/>
          <p:cNvSpPr txBox="1"/>
          <p:nvPr/>
        </p:nvSpPr>
        <p:spPr>
          <a:xfrm>
            <a:off x="10010832" y="3054096"/>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22" name="Rectangle 21"/>
          <p:cNvSpPr/>
          <p:nvPr/>
        </p:nvSpPr>
        <p:spPr>
          <a:xfrm>
            <a:off x="658368" y="3383279"/>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56432"/>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safety framing</a:t>
            </a:r>
          </a:p>
        </p:txBody>
      </p:sp>
      <p:sp>
        <p:nvSpPr>
          <p:cNvPr id="24" name="TextBox 23"/>
          <p:cNvSpPr txBox="1"/>
          <p:nvPr/>
        </p:nvSpPr>
        <p:spPr>
          <a:xfrm>
            <a:off x="4355854" y="3456432"/>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67</a:t>
            </a:r>
          </a:p>
        </p:txBody>
      </p:sp>
      <p:sp>
        <p:nvSpPr>
          <p:cNvPr id="25" name="TextBox 24"/>
          <p:cNvSpPr txBox="1"/>
          <p:nvPr/>
        </p:nvSpPr>
        <p:spPr>
          <a:xfrm>
            <a:off x="6095847" y="3456432"/>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26" name="TextBox 25"/>
          <p:cNvSpPr txBox="1"/>
          <p:nvPr/>
        </p:nvSpPr>
        <p:spPr>
          <a:xfrm>
            <a:off x="8162089" y="3456432"/>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a:t>
            </a:r>
          </a:p>
        </p:txBody>
      </p:sp>
      <p:sp>
        <p:nvSpPr>
          <p:cNvPr id="27" name="TextBox 26"/>
          <p:cNvSpPr txBox="1"/>
          <p:nvPr/>
        </p:nvSpPr>
        <p:spPr>
          <a:xfrm>
            <a:off x="10010832" y="3456432"/>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1.5%</a:t>
            </a:r>
          </a:p>
        </p:txBody>
      </p:sp>
      <p:sp>
        <p:nvSpPr>
          <p:cNvPr id="28" name="Rectangle 27"/>
          <p:cNvSpPr/>
          <p:nvPr/>
        </p:nvSpPr>
        <p:spPr>
          <a:xfrm>
            <a:off x="658368" y="37856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858768"/>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pressure, bare doubt</a:t>
            </a:r>
          </a:p>
        </p:txBody>
      </p:sp>
      <p:sp>
        <p:nvSpPr>
          <p:cNvPr id="30" name="TextBox 29"/>
          <p:cNvSpPr txBox="1"/>
          <p:nvPr/>
        </p:nvSpPr>
        <p:spPr>
          <a:xfrm>
            <a:off x="4355854" y="3858768"/>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67</a:t>
            </a:r>
          </a:p>
        </p:txBody>
      </p:sp>
      <p:sp>
        <p:nvSpPr>
          <p:cNvPr id="31" name="TextBox 30"/>
          <p:cNvSpPr txBox="1"/>
          <p:nvPr/>
        </p:nvSpPr>
        <p:spPr>
          <a:xfrm>
            <a:off x="6095847" y="3858768"/>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32" name="TextBox 31"/>
          <p:cNvSpPr txBox="1"/>
          <p:nvPr/>
        </p:nvSpPr>
        <p:spPr>
          <a:xfrm>
            <a:off x="8162089" y="3858768"/>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a:t>
            </a:r>
          </a:p>
        </p:txBody>
      </p:sp>
      <p:sp>
        <p:nvSpPr>
          <p:cNvPr id="33" name="TextBox 32"/>
          <p:cNvSpPr txBox="1"/>
          <p:nvPr/>
        </p:nvSpPr>
        <p:spPr>
          <a:xfrm>
            <a:off x="10010832" y="3858768"/>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1.5%</a:t>
            </a:r>
          </a:p>
        </p:txBody>
      </p:sp>
      <p:sp>
        <p:nvSpPr>
          <p:cNvPr id="34" name="Rectangle 33"/>
          <p:cNvSpPr/>
          <p:nvPr/>
        </p:nvSpPr>
        <p:spPr>
          <a:xfrm>
            <a:off x="658368" y="418795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4261104"/>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36" name="TextBox 35"/>
          <p:cNvSpPr txBox="1"/>
          <p:nvPr/>
        </p:nvSpPr>
        <p:spPr>
          <a:xfrm>
            <a:off x="4355854" y="4261104"/>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172</a:t>
            </a:r>
          </a:p>
        </p:txBody>
      </p:sp>
      <p:sp>
        <p:nvSpPr>
          <p:cNvPr id="37" name="TextBox 36"/>
          <p:cNvSpPr txBox="1"/>
          <p:nvPr/>
        </p:nvSpPr>
        <p:spPr>
          <a:xfrm>
            <a:off x="6095847" y="4261104"/>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11</a:t>
            </a:r>
          </a:p>
        </p:txBody>
      </p:sp>
      <p:sp>
        <p:nvSpPr>
          <p:cNvPr id="38" name="TextBox 37"/>
          <p:cNvSpPr txBox="1"/>
          <p:nvPr/>
        </p:nvSpPr>
        <p:spPr>
          <a:xfrm>
            <a:off x="8162089" y="4261104"/>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2</a:t>
            </a:r>
          </a:p>
        </p:txBody>
      </p:sp>
      <p:sp>
        <p:nvSpPr>
          <p:cNvPr id="39" name="TextBox 38"/>
          <p:cNvSpPr txBox="1"/>
          <p:nvPr/>
        </p:nvSpPr>
        <p:spPr>
          <a:xfrm>
            <a:off x="10010832" y="4261104"/>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1.1%</a:t>
            </a:r>
          </a:p>
        </p:txBody>
      </p:sp>
      <p:sp>
        <p:nvSpPr>
          <p:cNvPr id="40" name="Rectangle 39"/>
          <p:cNvSpPr/>
          <p:nvPr/>
        </p:nvSpPr>
        <p:spPr>
          <a:xfrm>
            <a:off x="658368" y="45902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663440"/>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neutral control</a:t>
            </a:r>
          </a:p>
        </p:txBody>
      </p:sp>
      <p:sp>
        <p:nvSpPr>
          <p:cNvPr id="42" name="TextBox 41"/>
          <p:cNvSpPr txBox="1"/>
          <p:nvPr/>
        </p:nvSpPr>
        <p:spPr>
          <a:xfrm>
            <a:off x="4355854" y="466344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a:t>
            </a:r>
          </a:p>
        </p:txBody>
      </p:sp>
      <p:sp>
        <p:nvSpPr>
          <p:cNvPr id="43" name="TextBox 42"/>
          <p:cNvSpPr txBox="1"/>
          <p:nvPr/>
        </p:nvSpPr>
        <p:spPr>
          <a:xfrm>
            <a:off x="6095847" y="466344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a:t>
            </a:r>
          </a:p>
        </p:txBody>
      </p:sp>
      <p:sp>
        <p:nvSpPr>
          <p:cNvPr id="44" name="TextBox 43"/>
          <p:cNvSpPr txBox="1"/>
          <p:nvPr/>
        </p:nvSpPr>
        <p:spPr>
          <a:xfrm>
            <a:off x="8162089" y="466344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a:t>
            </a:r>
          </a:p>
        </p:txBody>
      </p:sp>
      <p:sp>
        <p:nvSpPr>
          <p:cNvPr id="45" name="TextBox 44"/>
          <p:cNvSpPr txBox="1"/>
          <p:nvPr/>
        </p:nvSpPr>
        <p:spPr>
          <a:xfrm>
            <a:off x="10010832" y="466344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46" name="TextBox 45"/>
          <p:cNvSpPr txBox="1"/>
          <p:nvPr/>
        </p:nvSpPr>
        <p:spPr>
          <a:xfrm>
            <a:off x="658368" y="5230368"/>
            <a:ext cx="10874959" cy="914400"/>
          </a:xfrm>
          <a:prstGeom prst="rect">
            <a:avLst/>
          </a:prstGeom>
          <a:noFill/>
        </p:spPr>
        <p:txBody>
          <a:bodyPr wrap="square" anchor="t" lIns="0" rIns="0" tIns="0" bIns="0">
            <a:spAutoFit/>
          </a:bodyPr>
          <a:lstStyle/>
          <a:p>
            <a:pPr algn="l">
              <a:lnSpc>
                <a:spcPct val="138000"/>
              </a:lnSpc>
              <a:spcAft>
                <a:spcPts val="800"/>
              </a:spcAft>
            </a:pPr>
            <a:r>
              <a:rPr sz="1600" b="1" i="0">
                <a:solidFill>
                  <a:srgbClr val="D02670"/>
                </a:solidFill>
                <a:latin typeface="IBM Plex Sans"/>
              </a:rPr>
              <a:t>If the study stopped here it would conclude that the sycophancy is harmless.</a:t>
            </a:r>
          </a:p>
          <a:p>
            <a:pPr algn="l">
              <a:lnSpc>
                <a:spcPct val="138000"/>
              </a:lnSpc>
              <a:spcAft>
                <a:spcPts val="800"/>
              </a:spcAft>
            </a:pPr>
            <a:r>
              <a:rPr sz="1350" b="0" i="0">
                <a:solidFill>
                  <a:srgbClr val="525252"/>
                </a:solidFill>
                <a:latin typeface="IBM Plex Sans"/>
              </a:rPr>
              <a:t>The model abandons its drug under pressure in almost every case and lands on another drug that also covers the organism. On the endpoint named as strongest, harmful revision runs between 0.0 and 1.5 per cent. That conclusion would be wrong, and my supervisor is the one who said where to look.</a:t>
            </a:r>
          </a:p>
        </p:txBody>
      </p:sp>
      <p:sp>
        <p:nvSpPr>
          <p:cNvPr id="47" name="Rectangle 4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  analysis/tingting_endpoints.py  ·  denominator is the correct-before group</a:t>
            </a:r>
          </a:p>
        </p:txBody>
      </p:sp>
      <p:sp>
        <p:nvSpPr>
          <p:cNvPr id="49" name="TextBox 4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same endpoint hierarchy asks what kind of answer was given, not only whether it was right.</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0.0 to 1.5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83.7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2103120"/>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baseline is a constant</a:t>
            </a:r>
          </a:p>
        </p:txBody>
      </p:sp>
      <p:sp>
        <p:nvSpPr>
          <p:cNvPr id="6" name="TextBox 5"/>
          <p:cNvSpPr txBox="1"/>
          <p:nvPr/>
        </p:nvSpPr>
        <p:spPr>
          <a:xfrm>
            <a:off x="658368"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401568"/>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primary test runs on a third of the cohort</a:t>
            </a:r>
          </a:p>
        </p:txBody>
      </p:sp>
      <p:sp>
        <p:nvSpPr>
          <p:cNvPr id="9" name="TextBox 8"/>
          <p:cNvSpPr txBox="1"/>
          <p:nvPr/>
        </p:nvSpPr>
        <p:spPr>
          <a:xfrm>
            <a:off x="658368"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70 of 200 cases are evaluable in all four conditions. The attrition is a property of what the laboratory tested, and it is still attrition.</a:t>
            </a:r>
          </a:p>
        </p:txBody>
      </p:sp>
      <p:sp>
        <p:nvSpPr>
          <p:cNvPr id="10" name="Rectangle 9"/>
          <p:cNvSpPr/>
          <p:nvPr/>
        </p:nvSpPr>
        <p:spPr>
          <a:xfrm>
            <a:off x="658368" y="4700016"/>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Clustering, not independence</a:t>
            </a:r>
          </a:p>
        </p:txBody>
      </p:sp>
      <p:sp>
        <p:nvSpPr>
          <p:cNvPr id="12" name="TextBox 11"/>
          <p:cNvSpPr txBox="1"/>
          <p:nvPr/>
        </p:nvSpPr>
        <p:spPr>
          <a:xfrm>
            <a:off x="658368"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3" name="Rectangle 12"/>
          <p:cNvSpPr/>
          <p:nvPr/>
        </p:nvSpPr>
        <p:spPr>
          <a:xfrm>
            <a:off x="6278727" y="2103120"/>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8727"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counterpart is scripted, not alive</a:t>
            </a:r>
          </a:p>
        </p:txBody>
      </p:sp>
      <p:sp>
        <p:nvSpPr>
          <p:cNvPr id="15" name="TextBox 14"/>
          <p:cNvSpPr txBox="1"/>
          <p:nvPr/>
        </p:nvSpPr>
        <p:spPr>
          <a:xfrm>
            <a:off x="6278727"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Fixed challenge sentences buy internal validity and give up realism. A real second agent would vary its argument with the case.</a:t>
            </a:r>
          </a:p>
        </p:txBody>
      </p:sp>
      <p:sp>
        <p:nvSpPr>
          <p:cNvPr id="16" name="Rectangle 15"/>
          <p:cNvSpPr/>
          <p:nvPr/>
        </p:nvSpPr>
        <p:spPr>
          <a:xfrm>
            <a:off x="6278727" y="340156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One 4B checkpoint, run locally</a:t>
            </a:r>
          </a:p>
        </p:txBody>
      </p:sp>
      <p:sp>
        <p:nvSpPr>
          <p:cNvPr id="18" name="TextBox 17"/>
          <p:cNvSpPr txBox="1"/>
          <p:nvPr/>
        </p:nvSpPr>
        <p:spPr>
          <a:xfrm>
            <a:off x="6278727"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MIMIC-IV is credentialed, so no record-level data may reach a hosted service. Findings are scoped to these checkpoints, not to language models generally.</a:t>
            </a:r>
          </a:p>
        </p:txBody>
      </p:sp>
      <p:sp>
        <p:nvSpPr>
          <p:cNvPr id="19" name="Rectangle 18"/>
          <p:cNvSpPr/>
          <p:nvPr/>
        </p:nvSpPr>
        <p:spPr>
          <a:xfrm>
            <a:off x="6278727" y="47000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No clinician has reviewed this design</a:t>
            </a:r>
          </a:p>
        </p:txBody>
      </p:sp>
      <p:sp>
        <p:nvSpPr>
          <p:cNvPr id="21" name="TextBox 20"/>
          <p:cNvSpPr txBox="1"/>
          <p:nvPr/>
        </p:nvSpPr>
        <p:spPr>
          <a:xfrm>
            <a:off x="6278727"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2" name="Rectangle 2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24" name="TextBox 2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four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Rectangle 19"/>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161" y="2286000"/>
            <a:ext cx="3148846" cy="1828800"/>
          </a:xfrm>
          <a:prstGeom prst="rect">
            <a:avLst/>
          </a:prstGeom>
          <a:noFill/>
        </p:spPr>
        <p:txBody>
          <a:bodyPr wrap="square" anchor="t" lIns="0" rIns="0" tIns="0" bIns="0">
            <a:spAutoFit/>
          </a:bodyPr>
          <a:lstStyle/>
          <a:p>
            <a:pPr algn="l">
              <a:lnSpc>
                <a:spcPct val="132000"/>
              </a:lnSpc>
              <a:spcAft>
                <a:spcPts val="800"/>
              </a:spcAft>
            </a:pPr>
            <a:r>
              <a:rPr sz="1350" b="1" i="0">
                <a:solidFill>
                  <a:srgbClr val="161616"/>
                </a:solidFill>
                <a:latin typeface="IBM Plex Sans"/>
              </a:rPr>
              <a:t>Tier 3 is the sharpest number in the project</a:t>
            </a:r>
          </a:p>
          <a:p>
            <a:pPr algn="l">
              <a:lnSpc>
                <a:spcPct val="132000"/>
              </a:lnSpc>
              <a:spcAft>
                <a:spcPts val="800"/>
              </a:spcAft>
            </a:pPr>
            <a:r>
              <a:rPr sz="1200" b="0" i="0">
                <a:solidFill>
                  <a:srgbClr val="525252"/>
                </a:solidFill>
                <a:latin typeface="IBM Plex Sans"/>
              </a:rPr>
              <a:t>BiomedBERT, 110M parameters, no fine-tuning and no dialogue, reaches 84.5 per cent coverage against the 4B model's 87.5 per cent.</a:t>
            </a:r>
          </a:p>
          <a:p>
            <a:pPr algn="l">
              <a:lnSpc>
                <a:spcPct val="132000"/>
              </a:lnSpc>
              <a:spcAft>
                <a:spcPts val="800"/>
              </a:spcAft>
            </a:pPr>
            <a:r>
              <a:rPr sz="1200" b="0" i="0">
                <a:solidFill>
                  <a:srgbClr val="525252"/>
                </a:solidFill>
                <a:latin typeface="IBM Plex Sans"/>
              </a:rPr>
              <a:t>All four encoders are near-constant too, one or two distinct predictions across 200 different patients. The fixed-policy behaviour is not a quirk of the generative model.</a:t>
            </a:r>
          </a:p>
        </p:txBody>
      </p:sp>
      <p:sp>
        <p:nvSpPr>
          <p:cNvPr id="22" name="TextBox 21"/>
          <p:cNvSpPr txBox="1"/>
          <p:nvPr/>
        </p:nvSpPr>
        <p:spPr>
          <a:xfrm>
            <a:off x="658368" y="4572000"/>
            <a:ext cx="6851224" cy="118872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23" name="TextBox 22"/>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24" name="TextBox 23"/>
          <p:cNvSpPr txBox="1"/>
          <p:nvPr/>
        </p:nvSpPr>
        <p:spPr>
          <a:xfrm>
            <a:off x="658368" y="5760720"/>
            <a:ext cx="6851224" cy="4572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docs/MODELS.md  ·  the encoder baselines answer the supervisor's ask for a medical BERT without fine-tuning</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