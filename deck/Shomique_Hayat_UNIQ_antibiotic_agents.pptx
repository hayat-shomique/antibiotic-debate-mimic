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after the debate has already moved it. It pushes</a:t>
            </a:r>
          </a:p>
          <a:p>
            <a:r>
              <a:t>nobody off an adequate drug, and coverage rises 17.2 points to 95.2 per cent.</a:t>
            </a:r>
          </a:p>
          <a:p>
            <a:r>
              <a:t>If someone asks about the panel replacing the debate rather than following it, that is a different</a:t>
            </a:r>
          </a:p>
          <a:p>
            <a:r>
              <a:t>arm and its harmful revision rate is 1.1 per cent, on the closing slide.</a:t>
            </a:r>
          </a:p>
          <a:p>
            <a:r>
              <a:t>So: multi-agent communication does not improve clinical decision quality here. It degrades it.</a:t>
            </a:r>
          </a:p>
          <a:p>
            <a:r>
              <a:t>Evidence improves it.</a:t>
            </a:r>
          </a:p>
          <a:p>
            <a:r>
              <a:t>If you have the time, add the control in one sentence: I ran the same agent three times with nothing</a:t>
            </a:r>
          </a:p>
          <a:p>
            <a:r>
              <a:t>disagreeing with it, and it kept its answer and its coverage, so it is being contradicted that moves</a:t>
            </a:r>
          </a:p>
          <a:p>
            <a:r>
              <a:t>it and not being asked again. There is a backup slide with the numbers.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On the cases where both can be scored, it is 91.1 against 90.6. Indistinguishable. The honest answer</a:t>
            </a:r>
          </a:p>
          <a:p>
            <a:r>
              <a:t>to her question is that neither is better, and the interesting part is that a constant policy</a:t>
            </a:r>
          </a:p>
          <a:p>
            <a:r>
              <a:t>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the three questions a clinician asks first.</a:t>
            </a:r>
          </a:p>
          <a:p>
            <a:r>
              <a:t>Which bugs: 20 organisms, 126 of 200 are Escherichia Coli, and every case is Gram negative.</a:t>
            </a:r>
          </a:p>
          <a:p>
            <a:r>
              <a:t>That is a property of the frame, and it means five of my seventeen agents are Gram-positive drugs</a:t>
            </a:r>
          </a:p>
          <a:p>
            <a:r>
              <a:t>that could never be right here.</a:t>
            </a:r>
          </a:p>
          <a:p>
            <a:r>
              <a:t>Intermediate: 3.0 per cent of verdict rows. I do not fold it into either bucket. The case gets</a:t>
            </a:r>
          </a:p>
          <a:p>
            <a:r>
              <a:t>its own class and leaves the numerator, because calling Intermediate a success or a failure would be</a:t>
            </a:r>
          </a:p>
          <a:p>
            <a:r>
              <a:t>a decision I am not entitled to make.</a:t>
            </a:r>
          </a:p>
          <a:p>
            <a:r>
              <a:t>Undetermined: 40.6 per cent of case-drug pairs, because the lab never tested that drug against that</a:t>
            </a:r>
          </a:p>
          <a:p>
            <a:r>
              <a:t>patient's organism. That is the biggest constraint in the whole design.</a:t>
            </a:r>
          </a:p>
          <a:p>
            <a:r>
              <a:t>And the ceiling is 99.5 per cent, so my 87.5 baseline was not bumping against a limit. There were about</a:t>
            </a:r>
          </a:p>
          <a:p>
            <a:r>
              <a:t>twelve points on the table and the model did not take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Use it if someone asks whether the framing of the challenge is what matters.</a:t>
            </a:r>
          </a:p>
          <a:p>
            <a:r>
              <a:t>It is not. All four framings sit in a narrow band, 1.1 to 3.5 per cent harmful revision, when the</a:t>
            </a:r>
          </a:p>
          <a:p>
            <a:r>
              <a:t>model is challenged once. Five turns of the same kind of challenge costs 15.2 per cent.</a:t>
            </a:r>
          </a:p>
          <a:p>
            <a:r>
              <a:t>The variable is how long the conversation runs, not how the challenge is worded.</a:t>
            </a:r>
          </a:p>
          <a:p>
            <a:r>
              <a:t>Two more things fall out of this table.</a:t>
            </a:r>
          </a:p>
          <a:p>
            <a:r>
              <a:t>First, a challenge carrying no evidence corrects an inadequate opening almost as often as the real</a:t>
            </a:r>
          </a:p>
          <a:p>
            <a:r>
              <a:t>susceptibility panel does, 66.7 to 81.8 per cent against 91.7 per cent. The model revises at close to</a:t>
            </a:r>
          </a:p>
          <a:p>
            <a:r>
              <a:t>the right rate for none of the right reasons.</a:t>
            </a:r>
          </a:p>
          <a:p>
            <a:r>
              <a:t>Second, the answer space narrows. Given the panel, 8 different drugs are still in play across the</a:t>
            </a:r>
          </a:p>
          <a:p>
            <a:r>
              <a:t>cohort. After the debate, 3. The debate does not only pick worse, it stops considering.</a:t>
            </a:r>
          </a:p>
          <a:p>
            <a:r>
              <a:t>If someone asks whether that is the debate or just being asked repeatedly, say I built the control:</a:t>
            </a:r>
          </a:p>
          <a:p>
            <a:r>
              <a:t>one agent, same cases, same opening prompt, three speaking turns, nothing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is the answer to the obvious objection.</a:t>
            </a:r>
          </a:p>
          <a:p>
            <a:r>
              <a:t>Someone will say: five turns cost you coverage, but is that the debate or is it just being asked</a:t>
            </a:r>
          </a:p>
          <a:p>
            <a:r>
              <a:t>three times? The debate arm cannot separate those, because it varies both at once.</a:t>
            </a:r>
          </a:p>
          <a:p>
            <a:r>
              <a:t>So I ran the control. One agent, the same specialist, the same 125 frozen cases, the same round-0</a:t>
            </a:r>
          </a:p>
          <a:p>
            <a:r>
              <a:t>prompt byte for byte, the same formulary, the same leakage gate, the same scorer. It speaks three</a:t>
            </a:r>
          </a:p>
          <a:p>
            <a:r>
              <a:t>times, exactly as many times as the specialist speaks in the debate, and between turns it sees only</a:t>
            </a:r>
          </a:p>
          <a:p>
            <a:r>
              <a:t>its own previous text. Nothing disagrees with it.</a:t>
            </a:r>
          </a:p>
          <a:p>
            <a:r>
              <a:t>With a counterpart it changes its drug in every run. Without one, 4 of 125.</a:t>
            </a:r>
          </a:p>
          <a:p>
            <a:r>
              <a:t>Coverage is 88.8 per cent against 77.6, and harmful revision is 0 per cent against 14.8.</a:t>
            </a:r>
          </a:p>
          <a:p>
            <a:r>
              <a:t>Paired within patient, exact McNemar p = 3.05e-05.</a:t>
            </a:r>
          </a:p>
          <a:p>
            <a:r>
              <a:t>So the counterpart is what moves it. Being asked again is not enough.</a:t>
            </a:r>
          </a:p>
          <a:p>
            <a:r>
              <a:t>Say the limitation out loud: it does not hold context length constant. The debate transcript is</a:t>
            </a:r>
          </a:p>
          <a:p>
            <a:r>
              <a:t>about twice as long by the final turn. That control is the next thing to run.</a:t>
            </a:r>
          </a:p>
          <a:p>
            <a:r>
              <a:t>Say the coverage out loud too: 125 of 200 cases, a contiguous prefix, run against the clock.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13</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the two personas are Zhikang Chen's, 23 July 2026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87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 five turns</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 after the debate</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0.0%</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2024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baseline is a constant</a:t>
            </a:r>
          </a:p>
        </p:txBody>
      </p:sp>
      <p:sp>
        <p:nvSpPr>
          <p:cNvPr id="6" name="TextBox 5"/>
          <p:cNvSpPr txBox="1"/>
          <p:nvPr/>
        </p:nvSpPr>
        <p:spPr>
          <a:xfrm>
            <a:off x="658368"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278892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primary test runs on 180 to 185 of 200</a:t>
            </a:r>
          </a:p>
        </p:txBody>
      </p:sp>
      <p:sp>
        <p:nvSpPr>
          <p:cNvPr id="9" name="TextBox 8"/>
          <p:cNvSpPr txBox="1"/>
          <p:nvPr/>
        </p:nvSpPr>
        <p:spPr>
          <a:xfrm>
            <a:off x="658368"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365760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confidence binary cannot fail</a:t>
            </a:r>
          </a:p>
        </p:txBody>
      </p:sp>
      <p:sp>
        <p:nvSpPr>
          <p:cNvPr id="12" name="TextBox 11"/>
          <p:cNvSpPr txBox="1"/>
          <p:nvPr/>
        </p:nvSpPr>
        <p:spPr>
          <a:xfrm>
            <a:off x="658368"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4526279"/>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Clustering, not independence</a:t>
            </a:r>
          </a:p>
        </p:txBody>
      </p:sp>
      <p:sp>
        <p:nvSpPr>
          <p:cNvPr id="15" name="TextBox 14"/>
          <p:cNvSpPr txBox="1"/>
          <p:nvPr/>
        </p:nvSpPr>
        <p:spPr>
          <a:xfrm>
            <a:off x="658368"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2024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counterpart is scripted, not alive</a:t>
            </a:r>
          </a:p>
        </p:txBody>
      </p:sp>
      <p:sp>
        <p:nvSpPr>
          <p:cNvPr id="18" name="TextBox 17"/>
          <p:cNvSpPr txBox="1"/>
          <p:nvPr/>
        </p:nvSpPr>
        <p:spPr>
          <a:xfrm>
            <a:off x="6278727"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278892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arm was superseded before it was used</a:t>
            </a:r>
          </a:p>
        </p:txBody>
      </p:sp>
      <p:sp>
        <p:nvSpPr>
          <p:cNvPr id="21" name="TextBox 20"/>
          <p:cNvSpPr txBox="1"/>
          <p:nvPr/>
        </p:nvSpPr>
        <p:spPr>
          <a:xfrm>
            <a:off x="6278727"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plausible-wrong seeding arm reached its planned 312 exposures and is superseded by the drug-matched design, which holds the drug name fixed and varies the patient instead. It carries no result in this deck.</a:t>
            </a:r>
          </a:p>
        </p:txBody>
      </p:sp>
      <p:sp>
        <p:nvSpPr>
          <p:cNvPr id="22" name="Rectangle 21"/>
          <p:cNvSpPr/>
          <p:nvPr/>
        </p:nvSpPr>
        <p:spPr>
          <a:xfrm>
            <a:off x="6278727" y="365760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Every case is Gram negative</a:t>
            </a:r>
          </a:p>
        </p:txBody>
      </p:sp>
      <p:sp>
        <p:nvSpPr>
          <p:cNvPr id="24" name="TextBox 23"/>
          <p:cNvSpPr txBox="1"/>
          <p:nvPr/>
        </p:nvSpPr>
        <p:spPr>
          <a:xfrm>
            <a:off x="6278727"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All 200 cases, 20 organisms, 126 of them Escherichia Coli. Five of the seventeen formulary agents are Gram-positive drugs that can never be adequate here, and the Gram-positive half of bacteraemia is untested.</a:t>
            </a:r>
          </a:p>
        </p:txBody>
      </p:sp>
      <p:sp>
        <p:nvSpPr>
          <p:cNvPr id="25" name="Rectangle 24"/>
          <p:cNvSpPr/>
          <p:nvPr/>
        </p:nvSpPr>
        <p:spPr>
          <a:xfrm>
            <a:off x="6278727" y="4526279"/>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4B checkpoint, run locally</a:t>
            </a:r>
          </a:p>
        </p:txBody>
      </p:sp>
      <p:sp>
        <p:nvSpPr>
          <p:cNvPr id="27" name="TextBox 26"/>
          <p:cNvSpPr txBox="1"/>
          <p:nvPr/>
        </p:nvSpPr>
        <p:spPr>
          <a:xfrm>
            <a:off x="6278727"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MIMIC-IV is credentialed, so no record-level data may reach a hosted service. Findings are scoped to these checkpoints, not to language models generally.</a:t>
            </a:r>
          </a:p>
        </p:txBody>
      </p:sp>
      <p:sp>
        <p:nvSpPr>
          <p:cNvPr id="28" name="Rectangle 27"/>
          <p:cNvSpPr/>
          <p:nvPr/>
        </p:nvSpPr>
        <p:spPr>
          <a:xfrm>
            <a:off x="6278727" y="539496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550468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No clinician has reviewed this design</a:t>
            </a:r>
          </a:p>
        </p:txBody>
      </p:sp>
      <p:sp>
        <p:nvSpPr>
          <p:cNvPr id="30" name="TextBox 29"/>
          <p:cNvSpPr txBox="1"/>
          <p:nvPr/>
        </p:nvSpPr>
        <p:spPr>
          <a:xfrm>
            <a:off x="6278727" y="577900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31" name="Rectangle 3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3" name="TextBox 3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panel replaces the debate</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TextBox 11"/>
          <p:cNvSpPr txBox="1"/>
          <p:nvPr/>
        </p:nvSpPr>
        <p:spPr>
          <a:xfrm>
            <a:off x="658368" y="3401568"/>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Both personas are Zhikang Chen's, by name and in writing, 23 July 2026: </a:t>
            </a:r>
            <a:r>
              <a:rPr sz="1150" b="0" i="1">
                <a:solidFill>
                  <a:srgbClr val="525252"/>
                </a:solidFill>
                <a:latin typeface="IBM Plex Sans"/>
              </a:rPr>
              <a:t>“assign Agent A the identity of an infectious disease specialist and Agent B the role of antimicrobial stewardship lead, so that each has a clear, potentially conflicting incentive.” The supporter and opponent architecture is his too.</a:t>
            </a:r>
          </a:p>
        </p:txBody>
      </p:sp>
      <p:sp>
        <p:nvSpPr>
          <p:cNvPr id="13" name="Rectangle 12"/>
          <p:cNvSpPr/>
          <p:nvPr/>
        </p:nvSpPr>
        <p:spPr>
          <a:xfrm>
            <a:off x="65836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6" name="TextBox 15"/>
          <p:cNvSpPr txBox="1"/>
          <p:nvPr/>
        </p:nvSpPr>
        <p:spPr>
          <a:xfrm>
            <a:off x="93268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7" name="Rectangle 16"/>
          <p:cNvSpPr/>
          <p:nvPr/>
        </p:nvSpPr>
        <p:spPr>
          <a:xfrm>
            <a:off x="436869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6869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301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20" name="TextBox 19"/>
          <p:cNvSpPr txBox="1"/>
          <p:nvPr/>
        </p:nvSpPr>
        <p:spPr>
          <a:xfrm>
            <a:off x="464301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1" name="Rectangle 20"/>
          <p:cNvSpPr/>
          <p:nvPr/>
        </p:nvSpPr>
        <p:spPr>
          <a:xfrm>
            <a:off x="807902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902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334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4" name="TextBox 23"/>
          <p:cNvSpPr txBox="1"/>
          <p:nvPr/>
        </p:nvSpPr>
        <p:spPr>
          <a:xfrm>
            <a:off x="835334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5" name="TextBox 24"/>
          <p:cNvSpPr txBox="1"/>
          <p:nvPr/>
        </p:nvSpPr>
        <p:spPr>
          <a:xfrm>
            <a:off x="658368" y="5669280"/>
            <a:ext cx="10874959" cy="457200"/>
          </a:xfrm>
          <a:prstGeom prst="rect">
            <a:avLst/>
          </a:prstGeom>
          <a:noFill/>
        </p:spPr>
        <p:txBody>
          <a:bodyPr wrap="square" anchor="t" lIns="0" rIns="0" tIns="0" bIns="0">
            <a:spAutoFit/>
          </a:bodyPr>
          <a:lstStyle/>
          <a:p>
            <a:pPr algn="l">
              <a:lnSpc>
                <a:spcPct val="130000"/>
              </a:lnSpc>
              <a:spcAft>
                <a:spcPts val="0"/>
              </a:spcAft>
            </a:pPr>
            <a:r>
              <a:rPr sz="1250" b="0" i="0">
                <a:solidFill>
                  <a:srgbClr val="525252"/>
                </a:solidFill>
                <a:latin typeface="IBM Plex Sans"/>
              </a:rPr>
              <a:t>The two identities carry a real clinical tension rather than an invented one. If deference exists, opposed incentives should make it visible.</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251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57/65 = 87.7% of INADEQUATE entrants   held 311/311 = 100.0%</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WHERE BOTH CAN BE SCORED</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On the cases where both can be scored the two are indistinguishable, 91.1% against 90.6%. The answer to her question is that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actually grew, and what the panel could not answer</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first three questions a clinician asks, computed by analysis/cohort_composition.py.</a:t>
            </a:r>
          </a:p>
        </p:txBody>
      </p:sp>
      <p:sp>
        <p:nvSpPr>
          <p:cNvPr id="5" name="TextBox 4"/>
          <p:cNvSpPr txBox="1"/>
          <p:nvPr/>
        </p:nvSpPr>
        <p:spPr>
          <a:xfrm>
            <a:off x="658368" y="2377440"/>
            <a:ext cx="293526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ORGANISM</a:t>
            </a:r>
          </a:p>
        </p:txBody>
      </p:sp>
      <p:sp>
        <p:nvSpPr>
          <p:cNvPr id="6" name="TextBox 5"/>
          <p:cNvSpPr txBox="1"/>
          <p:nvPr/>
        </p:nvSpPr>
        <p:spPr>
          <a:xfrm>
            <a:off x="3703356" y="2377440"/>
            <a:ext cx="86901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a:t>
            </a:r>
          </a:p>
        </p:txBody>
      </p:sp>
      <p:sp>
        <p:nvSpPr>
          <p:cNvPr id="7" name="TextBox 6"/>
          <p:cNvSpPr txBox="1"/>
          <p:nvPr/>
        </p:nvSpPr>
        <p:spPr>
          <a:xfrm>
            <a:off x="4682102" y="2377440"/>
            <a:ext cx="1304016"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GRAM</a:t>
            </a:r>
          </a:p>
        </p:txBody>
      </p:sp>
      <p:sp>
        <p:nvSpPr>
          <p:cNvPr id="8" name="Rectangle 7"/>
          <p:cNvSpPr/>
          <p:nvPr/>
        </p:nvSpPr>
        <p:spPr>
          <a:xfrm>
            <a:off x="658368" y="2761488"/>
            <a:ext cx="543747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44368"/>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Escherichia Coli</a:t>
            </a:r>
          </a:p>
        </p:txBody>
      </p:sp>
      <p:sp>
        <p:nvSpPr>
          <p:cNvPr id="10" name="TextBox 9"/>
          <p:cNvSpPr txBox="1"/>
          <p:nvPr/>
        </p:nvSpPr>
        <p:spPr>
          <a:xfrm>
            <a:off x="3703356" y="2944368"/>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126</a:t>
            </a:r>
          </a:p>
        </p:txBody>
      </p:sp>
      <p:sp>
        <p:nvSpPr>
          <p:cNvPr id="11" name="TextBox 10"/>
          <p:cNvSpPr txBox="1"/>
          <p:nvPr/>
        </p:nvSpPr>
        <p:spPr>
          <a:xfrm>
            <a:off x="4682102" y="2944368"/>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2" name="Rectangle 11"/>
          <p:cNvSpPr/>
          <p:nvPr/>
        </p:nvSpPr>
        <p:spPr>
          <a:xfrm>
            <a:off x="658368" y="3218688"/>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291840"/>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Pneumoniae</a:t>
            </a:r>
          </a:p>
        </p:txBody>
      </p:sp>
      <p:sp>
        <p:nvSpPr>
          <p:cNvPr id="14" name="TextBox 13"/>
          <p:cNvSpPr txBox="1"/>
          <p:nvPr/>
        </p:nvSpPr>
        <p:spPr>
          <a:xfrm>
            <a:off x="3703356" y="3291840"/>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29</a:t>
            </a:r>
          </a:p>
        </p:txBody>
      </p:sp>
      <p:sp>
        <p:nvSpPr>
          <p:cNvPr id="15" name="TextBox 14"/>
          <p:cNvSpPr txBox="1"/>
          <p:nvPr/>
        </p:nvSpPr>
        <p:spPr>
          <a:xfrm>
            <a:off x="4682102" y="3291840"/>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6" name="Rectangle 15"/>
          <p:cNvSpPr/>
          <p:nvPr/>
        </p:nvSpPr>
        <p:spPr>
          <a:xfrm>
            <a:off x="658368" y="3566160"/>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39312"/>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Serratia Marcescens</a:t>
            </a:r>
          </a:p>
        </p:txBody>
      </p:sp>
      <p:sp>
        <p:nvSpPr>
          <p:cNvPr id="18" name="TextBox 17"/>
          <p:cNvSpPr txBox="1"/>
          <p:nvPr/>
        </p:nvSpPr>
        <p:spPr>
          <a:xfrm>
            <a:off x="3703356" y="3639312"/>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14</a:t>
            </a:r>
          </a:p>
        </p:txBody>
      </p:sp>
      <p:sp>
        <p:nvSpPr>
          <p:cNvPr id="19" name="TextBox 18"/>
          <p:cNvSpPr txBox="1"/>
          <p:nvPr/>
        </p:nvSpPr>
        <p:spPr>
          <a:xfrm>
            <a:off x="4682102" y="3639312"/>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0" name="Rectangle 19"/>
          <p:cNvSpPr/>
          <p:nvPr/>
        </p:nvSpPr>
        <p:spPr>
          <a:xfrm>
            <a:off x="658368" y="3913632"/>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986783"/>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Oxytoca</a:t>
            </a:r>
          </a:p>
        </p:txBody>
      </p:sp>
      <p:sp>
        <p:nvSpPr>
          <p:cNvPr id="22" name="TextBox 21"/>
          <p:cNvSpPr txBox="1"/>
          <p:nvPr/>
        </p:nvSpPr>
        <p:spPr>
          <a:xfrm>
            <a:off x="3703356" y="3986783"/>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3" name="TextBox 22"/>
          <p:cNvSpPr txBox="1"/>
          <p:nvPr/>
        </p:nvSpPr>
        <p:spPr>
          <a:xfrm>
            <a:off x="4682102" y="3986783"/>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4" name="Rectangle 23"/>
          <p:cNvSpPr/>
          <p:nvPr/>
        </p:nvSpPr>
        <p:spPr>
          <a:xfrm>
            <a:off x="658368" y="4261104"/>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334255"/>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Cloacae Complex</a:t>
            </a:r>
          </a:p>
        </p:txBody>
      </p:sp>
      <p:sp>
        <p:nvSpPr>
          <p:cNvPr id="26" name="TextBox 25"/>
          <p:cNvSpPr txBox="1"/>
          <p:nvPr/>
        </p:nvSpPr>
        <p:spPr>
          <a:xfrm>
            <a:off x="3703356" y="4334255"/>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7" name="TextBox 26"/>
          <p:cNvSpPr txBox="1"/>
          <p:nvPr/>
        </p:nvSpPr>
        <p:spPr>
          <a:xfrm>
            <a:off x="4682102" y="4334255"/>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8" name="Rectangle 27"/>
          <p:cNvSpPr/>
          <p:nvPr/>
        </p:nvSpPr>
        <p:spPr>
          <a:xfrm>
            <a:off x="658368" y="4608576"/>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681727"/>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Aerogenes</a:t>
            </a:r>
          </a:p>
        </p:txBody>
      </p:sp>
      <p:sp>
        <p:nvSpPr>
          <p:cNvPr id="30" name="TextBox 29"/>
          <p:cNvSpPr txBox="1"/>
          <p:nvPr/>
        </p:nvSpPr>
        <p:spPr>
          <a:xfrm>
            <a:off x="3703356" y="4681727"/>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31" name="TextBox 30"/>
          <p:cNvSpPr txBox="1"/>
          <p:nvPr/>
        </p:nvSpPr>
        <p:spPr>
          <a:xfrm>
            <a:off x="4682102" y="4681727"/>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32" name="TextBox 31"/>
          <p:cNvSpPr txBox="1"/>
          <p:nvPr/>
        </p:nvSpPr>
        <p:spPr>
          <a:xfrm>
            <a:off x="658368" y="4956048"/>
            <a:ext cx="5437479"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20 distinct organisms across 200 cases. Every case is Gram negative, which is a property of the frame rather than of the sample.</a:t>
            </a:r>
          </a:p>
        </p:txBody>
      </p:sp>
      <p:sp>
        <p:nvSpPr>
          <p:cNvPr id="33" name="Rectangle 32"/>
          <p:cNvSpPr/>
          <p:nvPr/>
        </p:nvSpPr>
        <p:spPr>
          <a:xfrm>
            <a:off x="6530845" y="2377440"/>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0845" y="2523744"/>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Intermediate is its own class</a:t>
            </a:r>
          </a:p>
        </p:txBody>
      </p:sp>
      <p:sp>
        <p:nvSpPr>
          <p:cNvPr id="35" name="TextBox 34"/>
          <p:cNvSpPr txBox="1"/>
          <p:nvPr/>
        </p:nvSpPr>
        <p:spPr>
          <a:xfrm>
            <a:off x="6530845" y="2852928"/>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panel returns S, I and R. 73 of 2472 verdict rows are Intermediate, 3.0%. It is neither covering nor failing: the case scores INTERMEDIATE_ONLY and leaves the adequacy numerator and the paired test rather than being folded either way.</a:t>
            </a:r>
          </a:p>
        </p:txBody>
      </p:sp>
      <p:sp>
        <p:nvSpPr>
          <p:cNvPr id="36" name="Rectangle 35"/>
          <p:cNvSpPr/>
          <p:nvPr/>
        </p:nvSpPr>
        <p:spPr>
          <a:xfrm>
            <a:off x="6530845" y="3675887"/>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0845" y="3822191"/>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Two fifths of pairs cannot be scored</a:t>
            </a:r>
          </a:p>
        </p:txBody>
      </p:sp>
      <p:sp>
        <p:nvSpPr>
          <p:cNvPr id="38" name="TextBox 37"/>
          <p:cNvSpPr txBox="1"/>
          <p:nvPr/>
        </p:nvSpPr>
        <p:spPr>
          <a:xfrm>
            <a:off x="6530845" y="4151375"/>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1380 of 3400 case-drug pairs are UNDETERMINED because the laboratory never tested that agent against at least one isolate, 40.6%. That is what the laboratory chose to test, not a property of the model, and it is the largest constraint on this design.</a:t>
            </a:r>
          </a:p>
        </p:txBody>
      </p:sp>
      <p:sp>
        <p:nvSpPr>
          <p:cNvPr id="39" name="Rectangle 38"/>
          <p:cNvSpPr/>
          <p:nvPr/>
        </p:nvSpPr>
        <p:spPr>
          <a:xfrm>
            <a:off x="6530845" y="4974336"/>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30845" y="5120640"/>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The ceiling, so the baseline reads against something</a:t>
            </a:r>
          </a:p>
        </p:txBody>
      </p:sp>
      <p:sp>
        <p:nvSpPr>
          <p:cNvPr id="41" name="TextBox 40"/>
          <p:cNvSpPr txBox="1"/>
          <p:nvPr/>
        </p:nvSpPr>
        <p:spPr>
          <a:xfrm>
            <a:off x="6530845" y="5449823"/>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Perfect per-patient choice from the formulary reaches 199 of 200 = 99.5%. The 87.5% baseline is not near a ceiling: about twelve points of headroom existed and were not taken.</a:t>
            </a:r>
          </a:p>
        </p:txBody>
      </p:sp>
      <p:sp>
        <p:nvSpPr>
          <p:cNvPr id="42" name="Rectangle 4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results/cohort_composition.json  ·  analysis/cohort_composition.py  ·  aggregates only, no case-level rows leave the machine</a:t>
            </a:r>
          </a:p>
        </p:txBody>
      </p:sp>
      <p:sp>
        <p:nvSpPr>
          <p:cNvPr id="44" name="TextBox 4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WHAT ACTUALLY DOES THE DAMAGE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framing of the challenge is not what costs coverage. Duration is.</a:t>
            </a:r>
          </a:p>
        </p:txBody>
      </p:sp>
      <p:sp>
        <p:nvSpPr>
          <p:cNvPr id="4" name="TextBox 3"/>
          <p:cNvSpPr txBox="1"/>
          <p:nvPr/>
        </p:nvSpPr>
        <p:spPr>
          <a:xfrm>
            <a:off x="658368" y="2084831"/>
            <a:ext cx="358775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WHAT MADE IT RECONSIDER</a:t>
            </a:r>
          </a:p>
        </p:txBody>
      </p:sp>
      <p:sp>
        <p:nvSpPr>
          <p:cNvPr id="5" name="TextBox 4"/>
          <p:cNvSpPr txBox="1"/>
          <p:nvPr/>
        </p:nvSpPr>
        <p:spPr>
          <a:xfrm>
            <a:off x="4355854" y="2084831"/>
            <a:ext cx="9777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TURNS</a:t>
            </a:r>
          </a:p>
        </p:txBody>
      </p:sp>
      <p:sp>
        <p:nvSpPr>
          <p:cNvPr id="6" name="TextBox 5"/>
          <p:cNvSpPr txBox="1"/>
          <p:nvPr/>
        </p:nvSpPr>
        <p:spPr>
          <a:xfrm>
            <a:off x="5443350" y="2084831"/>
            <a:ext cx="1956514"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HARMFUL REVISION</a:t>
            </a:r>
          </a:p>
        </p:txBody>
      </p:sp>
      <p:sp>
        <p:nvSpPr>
          <p:cNvPr id="7" name="TextBox 6"/>
          <p:cNvSpPr txBox="1"/>
          <p:nvPr/>
        </p:nvSpPr>
        <p:spPr>
          <a:xfrm>
            <a:off x="7509592" y="2084831"/>
            <a:ext cx="217401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CORRECTED AN ERROR</a:t>
            </a:r>
          </a:p>
        </p:txBody>
      </p:sp>
      <p:sp>
        <p:nvSpPr>
          <p:cNvPr id="8" name="TextBox 7"/>
          <p:cNvSpPr txBox="1"/>
          <p:nvPr/>
        </p:nvSpPr>
        <p:spPr>
          <a:xfrm>
            <a:off x="9793333" y="2084831"/>
            <a:ext cx="16302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DRUGS STILL IN PLAY</a:t>
            </a:r>
          </a:p>
        </p:txBody>
      </p:sp>
      <p:sp>
        <p:nvSpPr>
          <p:cNvPr id="9" name="Rectangle 8"/>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65176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nothing, a neutral re-ask</a:t>
            </a:r>
          </a:p>
        </p:txBody>
      </p:sp>
      <p:sp>
        <p:nvSpPr>
          <p:cNvPr id="11" name="TextBox 10"/>
          <p:cNvSpPr txBox="1"/>
          <p:nvPr/>
        </p:nvSpPr>
        <p:spPr>
          <a:xfrm>
            <a:off x="4355854" y="265176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2" name="TextBox 11"/>
          <p:cNvSpPr txBox="1"/>
          <p:nvPr/>
        </p:nvSpPr>
        <p:spPr>
          <a:xfrm>
            <a:off x="5443350" y="265176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3" name="TextBox 12"/>
          <p:cNvSpPr txBox="1"/>
          <p:nvPr/>
        </p:nvSpPr>
        <p:spPr>
          <a:xfrm>
            <a:off x="7509592" y="265176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4" name="TextBox 13"/>
          <p:cNvSpPr txBox="1"/>
          <p:nvPr/>
        </p:nvSpPr>
        <p:spPr>
          <a:xfrm>
            <a:off x="9793333" y="265176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a:t>
            </a:r>
          </a:p>
        </p:txBody>
      </p:sp>
      <p:sp>
        <p:nvSpPr>
          <p:cNvPr id="15" name="Rectangle 14"/>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01752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authority</a:t>
            </a:r>
          </a:p>
        </p:txBody>
      </p:sp>
      <p:sp>
        <p:nvSpPr>
          <p:cNvPr id="17" name="TextBox 16"/>
          <p:cNvSpPr txBox="1"/>
          <p:nvPr/>
        </p:nvSpPr>
        <p:spPr>
          <a:xfrm>
            <a:off x="4355854" y="301752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8" name="TextBox 17"/>
          <p:cNvSpPr txBox="1"/>
          <p:nvPr/>
        </p:nvSpPr>
        <p:spPr>
          <a:xfrm>
            <a:off x="5443350" y="301752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2.3%</a:t>
            </a:r>
          </a:p>
        </p:txBody>
      </p:sp>
      <p:sp>
        <p:nvSpPr>
          <p:cNvPr id="19" name="TextBox 18"/>
          <p:cNvSpPr txBox="1"/>
          <p:nvPr/>
        </p:nvSpPr>
        <p:spPr>
          <a:xfrm>
            <a:off x="7509592" y="301752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0" name="TextBox 19"/>
          <p:cNvSpPr txBox="1"/>
          <p:nvPr/>
        </p:nvSpPr>
        <p:spPr>
          <a:xfrm>
            <a:off x="9793333" y="301752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5</a:t>
            </a:r>
          </a:p>
        </p:txBody>
      </p:sp>
      <p:sp>
        <p:nvSpPr>
          <p:cNvPr id="21" name="Rectangle 20"/>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8327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peer consensus</a:t>
            </a:r>
          </a:p>
        </p:txBody>
      </p:sp>
      <p:sp>
        <p:nvSpPr>
          <p:cNvPr id="23" name="TextBox 22"/>
          <p:cNvSpPr txBox="1"/>
          <p:nvPr/>
        </p:nvSpPr>
        <p:spPr>
          <a:xfrm>
            <a:off x="4355854" y="338327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24" name="TextBox 23"/>
          <p:cNvSpPr txBox="1"/>
          <p:nvPr/>
        </p:nvSpPr>
        <p:spPr>
          <a:xfrm>
            <a:off x="5443350" y="338327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1.1%</a:t>
            </a:r>
          </a:p>
        </p:txBody>
      </p:sp>
      <p:sp>
        <p:nvSpPr>
          <p:cNvPr id="25" name="TextBox 24"/>
          <p:cNvSpPr txBox="1"/>
          <p:nvPr/>
        </p:nvSpPr>
        <p:spPr>
          <a:xfrm>
            <a:off x="7509592" y="338327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6" name="TextBox 25"/>
          <p:cNvSpPr txBox="1"/>
          <p:nvPr/>
        </p:nvSpPr>
        <p:spPr>
          <a:xfrm>
            <a:off x="9793333" y="338327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4</a:t>
            </a:r>
          </a:p>
        </p:txBody>
      </p:sp>
      <p:sp>
        <p:nvSpPr>
          <p:cNvPr id="27" name="Rectangle 26"/>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74903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safety framing</a:t>
            </a:r>
          </a:p>
        </p:txBody>
      </p:sp>
      <p:sp>
        <p:nvSpPr>
          <p:cNvPr id="29" name="TextBox 28"/>
          <p:cNvSpPr txBox="1"/>
          <p:nvPr/>
        </p:nvSpPr>
        <p:spPr>
          <a:xfrm>
            <a:off x="4355854" y="374903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0" name="TextBox 29"/>
          <p:cNvSpPr txBox="1"/>
          <p:nvPr/>
        </p:nvSpPr>
        <p:spPr>
          <a:xfrm>
            <a:off x="5443350" y="374903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3.5%</a:t>
            </a:r>
          </a:p>
        </p:txBody>
      </p:sp>
      <p:sp>
        <p:nvSpPr>
          <p:cNvPr id="31" name="TextBox 30"/>
          <p:cNvSpPr txBox="1"/>
          <p:nvPr/>
        </p:nvSpPr>
        <p:spPr>
          <a:xfrm>
            <a:off x="7509592" y="374903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72.7%</a:t>
            </a:r>
          </a:p>
        </p:txBody>
      </p:sp>
      <p:sp>
        <p:nvSpPr>
          <p:cNvPr id="32" name="TextBox 31"/>
          <p:cNvSpPr txBox="1"/>
          <p:nvPr/>
        </p:nvSpPr>
        <p:spPr>
          <a:xfrm>
            <a:off x="9793333" y="374903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3" name="Rectangle 32"/>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11480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bare doubt</a:t>
            </a:r>
          </a:p>
        </p:txBody>
      </p:sp>
      <p:sp>
        <p:nvSpPr>
          <p:cNvPr id="35" name="TextBox 34"/>
          <p:cNvSpPr txBox="1"/>
          <p:nvPr/>
        </p:nvSpPr>
        <p:spPr>
          <a:xfrm>
            <a:off x="4355854" y="411480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6" name="TextBox 35"/>
          <p:cNvSpPr txBox="1"/>
          <p:nvPr/>
        </p:nvSpPr>
        <p:spPr>
          <a:xfrm>
            <a:off x="5443350" y="411480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1.7%</a:t>
            </a:r>
          </a:p>
        </p:txBody>
      </p:sp>
      <p:sp>
        <p:nvSpPr>
          <p:cNvPr id="37" name="TextBox 36"/>
          <p:cNvSpPr txBox="1"/>
          <p:nvPr/>
        </p:nvSpPr>
        <p:spPr>
          <a:xfrm>
            <a:off x="7509592" y="411480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66.7%</a:t>
            </a:r>
          </a:p>
        </p:txBody>
      </p:sp>
      <p:sp>
        <p:nvSpPr>
          <p:cNvPr id="38" name="TextBox 37"/>
          <p:cNvSpPr txBox="1"/>
          <p:nvPr/>
        </p:nvSpPr>
        <p:spPr>
          <a:xfrm>
            <a:off x="9793333" y="411480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9" name="Rectangle 38"/>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48056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the susceptibility panel</a:t>
            </a:r>
          </a:p>
        </p:txBody>
      </p:sp>
      <p:sp>
        <p:nvSpPr>
          <p:cNvPr id="41" name="TextBox 40"/>
          <p:cNvSpPr txBox="1"/>
          <p:nvPr/>
        </p:nvSpPr>
        <p:spPr>
          <a:xfrm>
            <a:off x="4355854" y="448056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one</a:t>
            </a:r>
          </a:p>
        </p:txBody>
      </p:sp>
      <p:sp>
        <p:nvSpPr>
          <p:cNvPr id="42" name="TextBox 41"/>
          <p:cNvSpPr txBox="1"/>
          <p:nvPr/>
        </p:nvSpPr>
        <p:spPr>
          <a:xfrm>
            <a:off x="5443350" y="448056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1.1%</a:t>
            </a:r>
          </a:p>
        </p:txBody>
      </p:sp>
      <p:sp>
        <p:nvSpPr>
          <p:cNvPr id="43" name="TextBox 42"/>
          <p:cNvSpPr txBox="1"/>
          <p:nvPr/>
        </p:nvSpPr>
        <p:spPr>
          <a:xfrm>
            <a:off x="7509592" y="448056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91.7%</a:t>
            </a:r>
          </a:p>
        </p:txBody>
      </p:sp>
      <p:sp>
        <p:nvSpPr>
          <p:cNvPr id="44" name="TextBox 43"/>
          <p:cNvSpPr txBox="1"/>
          <p:nvPr/>
        </p:nvSpPr>
        <p:spPr>
          <a:xfrm>
            <a:off x="9793333" y="448056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8</a:t>
            </a:r>
          </a:p>
        </p:txBody>
      </p:sp>
      <p:sp>
        <p:nvSpPr>
          <p:cNvPr id="45" name="Rectangle 4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484632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a second agent arguing</a:t>
            </a:r>
          </a:p>
        </p:txBody>
      </p:sp>
      <p:sp>
        <p:nvSpPr>
          <p:cNvPr id="47" name="TextBox 46"/>
          <p:cNvSpPr txBox="1"/>
          <p:nvPr/>
        </p:nvSpPr>
        <p:spPr>
          <a:xfrm>
            <a:off x="4355854" y="484632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five</a:t>
            </a:r>
          </a:p>
        </p:txBody>
      </p:sp>
      <p:sp>
        <p:nvSpPr>
          <p:cNvPr id="48" name="TextBox 47"/>
          <p:cNvSpPr txBox="1"/>
          <p:nvPr/>
        </p:nvSpPr>
        <p:spPr>
          <a:xfrm>
            <a:off x="5443350" y="484632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15.2%</a:t>
            </a:r>
          </a:p>
        </p:txBody>
      </p:sp>
      <p:sp>
        <p:nvSpPr>
          <p:cNvPr id="49" name="TextBox 48"/>
          <p:cNvSpPr txBox="1"/>
          <p:nvPr/>
        </p:nvSpPr>
        <p:spPr>
          <a:xfrm>
            <a:off x="7509592" y="484632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59.1%</a:t>
            </a:r>
          </a:p>
        </p:txBody>
      </p:sp>
      <p:sp>
        <p:nvSpPr>
          <p:cNvPr id="50" name="TextBox 49"/>
          <p:cNvSpPr txBox="1"/>
          <p:nvPr/>
        </p:nvSpPr>
        <p:spPr>
          <a:xfrm>
            <a:off x="9793333" y="484632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3</a:t>
            </a:r>
          </a:p>
        </p:txBody>
      </p:sp>
      <p:sp>
        <p:nvSpPr>
          <p:cNvPr id="51" name="TextBox 50"/>
          <p:cNvSpPr txBox="1"/>
          <p:nvPr/>
        </p:nvSpPr>
        <p:spPr>
          <a:xfrm>
            <a:off x="658368" y="5138928"/>
            <a:ext cx="10874959"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row starts from the same round-0 position on the same frozen cohort and applies one reconsideration step. The panel-reveal arm is not in this table: it reveals the result after the debate has already moved the position, and its records carry the debate's own final drug on all 400 runs.</a:t>
            </a:r>
          </a:p>
        </p:txBody>
      </p:sp>
      <p:sp>
        <p:nvSpPr>
          <p:cNvPr id="52" name="Rectangle 5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results/trigger_comparison.json  ·  analysis/trigger_comparison.py</a:t>
            </a:r>
          </a:p>
        </p:txBody>
      </p:sp>
      <p:sp>
        <p:nvSpPr>
          <p:cNvPr id="54" name="TextBox 5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CONTROL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Asked three times with nothing disagreeing, it keeps its answer.</a:t>
            </a:r>
          </a:p>
        </p:txBody>
      </p:sp>
      <p:sp>
        <p:nvSpPr>
          <p:cNvPr id="4" name="TextBox 3"/>
          <p:cNvSpPr txBox="1"/>
          <p:nvPr/>
        </p:nvSpPr>
        <p:spPr>
          <a:xfrm>
            <a:off x="658368" y="2194560"/>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
            </a:r>
          </a:p>
        </p:txBody>
      </p:sp>
      <p:sp>
        <p:nvSpPr>
          <p:cNvPr id="5" name="TextBox 4"/>
          <p:cNvSpPr txBox="1"/>
          <p:nvPr/>
        </p:nvSpPr>
        <p:spPr>
          <a:xfrm>
            <a:off x="4355854"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FIVE TURNS, A COUNTERPART ARGUING</a:t>
            </a:r>
          </a:p>
        </p:txBody>
      </p:sp>
      <p:sp>
        <p:nvSpPr>
          <p:cNvPr id="6" name="TextBox 5"/>
          <p:cNvSpPr txBox="1"/>
          <p:nvPr/>
        </p:nvSpPr>
        <p:spPr>
          <a:xfrm>
            <a:off x="7944590"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THREE TURNS, ONLY ITS OWN TEXT</a:t>
            </a:r>
          </a:p>
        </p:txBody>
      </p:sp>
      <p:sp>
        <p:nvSpPr>
          <p:cNvPr id="7" name="Rectangle 6"/>
          <p:cNvSpPr/>
          <p:nvPr/>
        </p:nvSpPr>
        <p:spPr>
          <a:xfrm>
            <a:off x="658368" y="25786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761488"/>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changed its opening drug</a:t>
            </a:r>
          </a:p>
        </p:txBody>
      </p:sp>
      <p:sp>
        <p:nvSpPr>
          <p:cNvPr id="9" name="TextBox 8"/>
          <p:cNvSpPr txBox="1"/>
          <p:nvPr/>
        </p:nvSpPr>
        <p:spPr>
          <a:xfrm>
            <a:off x="4355854"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125 of 125</a:t>
            </a:r>
          </a:p>
        </p:txBody>
      </p:sp>
      <p:sp>
        <p:nvSpPr>
          <p:cNvPr id="10" name="TextBox 9"/>
          <p:cNvSpPr txBox="1"/>
          <p:nvPr/>
        </p:nvSpPr>
        <p:spPr>
          <a:xfrm>
            <a:off x="7944590"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4 of 125</a:t>
            </a:r>
          </a:p>
        </p:txBody>
      </p:sp>
      <p:sp>
        <p:nvSpPr>
          <p:cNvPr id="11" name="Rectangle 10"/>
          <p:cNvSpPr/>
          <p:nvPr/>
        </p:nvSpPr>
        <p:spPr>
          <a:xfrm>
            <a:off x="658368" y="310896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182112"/>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final recommendation adequate</a:t>
            </a:r>
          </a:p>
        </p:txBody>
      </p:sp>
      <p:sp>
        <p:nvSpPr>
          <p:cNvPr id="13" name="TextBox 12"/>
          <p:cNvSpPr txBox="1"/>
          <p:nvPr/>
        </p:nvSpPr>
        <p:spPr>
          <a:xfrm>
            <a:off x="4355854"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D02670"/>
                </a:solidFill>
                <a:latin typeface="IBM Plex Sans"/>
              </a:rPr>
              <a:t>77.6%</a:t>
            </a:r>
          </a:p>
        </p:txBody>
      </p:sp>
      <p:sp>
        <p:nvSpPr>
          <p:cNvPr id="14" name="TextBox 13"/>
          <p:cNvSpPr txBox="1"/>
          <p:nvPr/>
        </p:nvSpPr>
        <p:spPr>
          <a:xfrm>
            <a:off x="7944590"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0F62FE"/>
                </a:solidFill>
                <a:latin typeface="IBM Plex Sans"/>
              </a:rPr>
              <a:t>88.8%</a:t>
            </a:r>
          </a:p>
        </p:txBody>
      </p:sp>
      <p:sp>
        <p:nvSpPr>
          <p:cNvPr id="15" name="Rectangle 14"/>
          <p:cNvSpPr/>
          <p:nvPr/>
        </p:nvSpPr>
        <p:spPr>
          <a:xfrm>
            <a:off x="658368" y="3529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602736"/>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harmful revision</a:t>
            </a:r>
          </a:p>
        </p:txBody>
      </p:sp>
      <p:sp>
        <p:nvSpPr>
          <p:cNvPr id="17" name="TextBox 16"/>
          <p:cNvSpPr txBox="1"/>
          <p:nvPr/>
        </p:nvSpPr>
        <p:spPr>
          <a:xfrm>
            <a:off x="4355854"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14.8%</a:t>
            </a:r>
          </a:p>
        </p:txBody>
      </p:sp>
      <p:sp>
        <p:nvSpPr>
          <p:cNvPr id="18" name="TextBox 17"/>
          <p:cNvSpPr txBox="1"/>
          <p:nvPr/>
        </p:nvSpPr>
        <p:spPr>
          <a:xfrm>
            <a:off x="7944590"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0%</a:t>
            </a:r>
          </a:p>
        </p:txBody>
      </p:sp>
      <p:sp>
        <p:nvSpPr>
          <p:cNvPr id="19" name="TextBox 18"/>
          <p:cNvSpPr txBox="1"/>
          <p:nvPr/>
        </p:nvSpPr>
        <p:spPr>
          <a:xfrm>
            <a:off x="658368" y="4114800"/>
            <a:ext cx="10874959" cy="1188720"/>
          </a:xfrm>
          <a:prstGeom prst="rect">
            <a:avLst/>
          </a:prstGeom>
          <a:noFill/>
        </p:spPr>
        <p:txBody>
          <a:bodyPr wrap="square" anchor="t" lIns="0" rIns="0" tIns="0" bIns="0">
            <a:spAutoFit/>
          </a:bodyPr>
          <a:lstStyle/>
          <a:p>
            <a:pPr algn="l">
              <a:lnSpc>
                <a:spcPct val="134000"/>
              </a:lnSpc>
              <a:spcAft>
                <a:spcPts val="0"/>
              </a:spcAft>
            </a:pPr>
            <a:r>
              <a:rPr sz="1250" b="0" i="0">
                <a:solidFill>
                  <a:srgbClr val="161616"/>
                </a:solidFill>
                <a:latin typeface="IBM Plex Sans"/>
              </a:rPr>
              <a:t>Same agent, same 125 cases, same opening prompt, same formulary, same gate, same scorer. Paired within patient, the debate ends on an inadequate drug where the control ends on an adequate one in 16 pairs and the reverse in 0. Exact McNemar p = 3.05e-05.</a:t>
            </a:r>
          </a:p>
        </p:txBody>
      </p:sp>
      <p:sp>
        <p:nvSpPr>
          <p:cNvPr id="20" name="TextBox 19"/>
          <p:cNvSpPr txBox="1"/>
          <p:nvPr/>
        </p:nvSpPr>
        <p:spPr>
          <a:xfrm>
            <a:off x="658368" y="5230368"/>
            <a:ext cx="10874959" cy="91440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What it does not hold constant is context length: the debate transcript is about twice as long by the final turn. A length-matched control is the next thing this needs.</a:t>
            </a:r>
          </a:p>
        </p:txBody>
      </p:sp>
      <p:sp>
        <p:nvSpPr>
          <p:cNvPr id="21" name="Rectangle 2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results/selfrevision_control.json  ·  analysis/selfrevision_control.py  ·  selfrevise_run.py</a:t>
            </a:r>
          </a:p>
        </p:txBody>
      </p:sp>
      <p:sp>
        <p:nvSpPr>
          <p:cNvPr id="23" name="TextBox 2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