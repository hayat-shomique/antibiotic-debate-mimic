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57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57.</a:t>
            </a:r>
          </a:p>
          <a:p>
            <a:r>
              <a:t>Coverage is 89.5 per cent against 78.9, and harmful revision is 0 per cent against 14.3.</a:t>
            </a:r>
          </a:p>
          <a:p>
            <a:r>
              <a:t>Paired within patient, exact McNemar p = 0.0156.</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57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superseded arm is still short</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holds 312 of a planned 312 exposures. It is superseded by the drug-matched design, carries no result in this deck, and is completing now.</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148840"/>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148840"/>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148840"/>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148840"/>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148840"/>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53288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15768"/>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authority</a:t>
            </a:r>
          </a:p>
        </p:txBody>
      </p:sp>
      <p:sp>
        <p:nvSpPr>
          <p:cNvPr id="11" name="TextBox 10"/>
          <p:cNvSpPr txBox="1"/>
          <p:nvPr/>
        </p:nvSpPr>
        <p:spPr>
          <a:xfrm>
            <a:off x="4355854" y="2715768"/>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2" name="TextBox 11"/>
          <p:cNvSpPr txBox="1"/>
          <p:nvPr/>
        </p:nvSpPr>
        <p:spPr>
          <a:xfrm>
            <a:off x="5443350" y="2715768"/>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2.3%</a:t>
            </a:r>
          </a:p>
        </p:txBody>
      </p:sp>
      <p:sp>
        <p:nvSpPr>
          <p:cNvPr id="13" name="TextBox 12"/>
          <p:cNvSpPr txBox="1"/>
          <p:nvPr/>
        </p:nvSpPr>
        <p:spPr>
          <a:xfrm>
            <a:off x="7509592" y="2715768"/>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14" name="TextBox 13"/>
          <p:cNvSpPr txBox="1"/>
          <p:nvPr/>
        </p:nvSpPr>
        <p:spPr>
          <a:xfrm>
            <a:off x="9793333" y="2715768"/>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a:t>
            </a:r>
          </a:p>
        </p:txBody>
      </p:sp>
      <p:sp>
        <p:nvSpPr>
          <p:cNvPr id="15" name="Rectangle 14"/>
          <p:cNvSpPr/>
          <p:nvPr/>
        </p:nvSpPr>
        <p:spPr>
          <a:xfrm>
            <a:off x="658368" y="302666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99816"/>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peer consensus</a:t>
            </a:r>
          </a:p>
        </p:txBody>
      </p:sp>
      <p:sp>
        <p:nvSpPr>
          <p:cNvPr id="17" name="TextBox 16"/>
          <p:cNvSpPr txBox="1"/>
          <p:nvPr/>
        </p:nvSpPr>
        <p:spPr>
          <a:xfrm>
            <a:off x="4355854" y="3099816"/>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8" name="TextBox 17"/>
          <p:cNvSpPr txBox="1"/>
          <p:nvPr/>
        </p:nvSpPr>
        <p:spPr>
          <a:xfrm>
            <a:off x="5443350" y="3099816"/>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19" name="TextBox 18"/>
          <p:cNvSpPr txBox="1"/>
          <p:nvPr/>
        </p:nvSpPr>
        <p:spPr>
          <a:xfrm>
            <a:off x="7509592" y="3099816"/>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20" name="TextBox 19"/>
          <p:cNvSpPr txBox="1"/>
          <p:nvPr/>
        </p:nvSpPr>
        <p:spPr>
          <a:xfrm>
            <a:off x="9793333" y="3099816"/>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a:t>
            </a:r>
          </a:p>
        </p:txBody>
      </p:sp>
      <p:sp>
        <p:nvSpPr>
          <p:cNvPr id="21" name="Rectangle 20"/>
          <p:cNvSpPr/>
          <p:nvPr/>
        </p:nvSpPr>
        <p:spPr>
          <a:xfrm>
            <a:off x="658368" y="341071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483864"/>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safety framing</a:t>
            </a:r>
          </a:p>
        </p:txBody>
      </p:sp>
      <p:sp>
        <p:nvSpPr>
          <p:cNvPr id="23" name="TextBox 22"/>
          <p:cNvSpPr txBox="1"/>
          <p:nvPr/>
        </p:nvSpPr>
        <p:spPr>
          <a:xfrm>
            <a:off x="4355854" y="3483864"/>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24" name="TextBox 23"/>
          <p:cNvSpPr txBox="1"/>
          <p:nvPr/>
        </p:nvSpPr>
        <p:spPr>
          <a:xfrm>
            <a:off x="5443350" y="3483864"/>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3.5%</a:t>
            </a:r>
          </a:p>
        </p:txBody>
      </p:sp>
      <p:sp>
        <p:nvSpPr>
          <p:cNvPr id="25" name="TextBox 24"/>
          <p:cNvSpPr txBox="1"/>
          <p:nvPr/>
        </p:nvSpPr>
        <p:spPr>
          <a:xfrm>
            <a:off x="7509592" y="3483864"/>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72.7%</a:t>
            </a:r>
          </a:p>
        </p:txBody>
      </p:sp>
      <p:sp>
        <p:nvSpPr>
          <p:cNvPr id="26" name="TextBox 25"/>
          <p:cNvSpPr txBox="1"/>
          <p:nvPr/>
        </p:nvSpPr>
        <p:spPr>
          <a:xfrm>
            <a:off x="9793333" y="3483864"/>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27" name="Rectangle 26"/>
          <p:cNvSpPr/>
          <p:nvPr/>
        </p:nvSpPr>
        <p:spPr>
          <a:xfrm>
            <a:off x="658368" y="37947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867911"/>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bare doubt</a:t>
            </a:r>
          </a:p>
        </p:txBody>
      </p:sp>
      <p:sp>
        <p:nvSpPr>
          <p:cNvPr id="29" name="TextBox 28"/>
          <p:cNvSpPr txBox="1"/>
          <p:nvPr/>
        </p:nvSpPr>
        <p:spPr>
          <a:xfrm>
            <a:off x="4355854" y="3867911"/>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30" name="TextBox 29"/>
          <p:cNvSpPr txBox="1"/>
          <p:nvPr/>
        </p:nvSpPr>
        <p:spPr>
          <a:xfrm>
            <a:off x="5443350" y="3867911"/>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1.7%</a:t>
            </a:r>
          </a:p>
        </p:txBody>
      </p:sp>
      <p:sp>
        <p:nvSpPr>
          <p:cNvPr id="31" name="TextBox 30"/>
          <p:cNvSpPr txBox="1"/>
          <p:nvPr/>
        </p:nvSpPr>
        <p:spPr>
          <a:xfrm>
            <a:off x="7509592" y="3867911"/>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66.7%</a:t>
            </a:r>
          </a:p>
        </p:txBody>
      </p:sp>
      <p:sp>
        <p:nvSpPr>
          <p:cNvPr id="32" name="TextBox 31"/>
          <p:cNvSpPr txBox="1"/>
          <p:nvPr/>
        </p:nvSpPr>
        <p:spPr>
          <a:xfrm>
            <a:off x="9793333" y="3867911"/>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33" name="Rectangle 32"/>
          <p:cNvSpPr/>
          <p:nvPr/>
        </p:nvSpPr>
        <p:spPr>
          <a:xfrm>
            <a:off x="658368" y="41788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251959"/>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the susceptibility panel</a:t>
            </a:r>
          </a:p>
        </p:txBody>
      </p:sp>
      <p:sp>
        <p:nvSpPr>
          <p:cNvPr id="35" name="TextBox 34"/>
          <p:cNvSpPr txBox="1"/>
          <p:nvPr/>
        </p:nvSpPr>
        <p:spPr>
          <a:xfrm>
            <a:off x="4355854" y="4251959"/>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one</a:t>
            </a:r>
          </a:p>
        </p:txBody>
      </p:sp>
      <p:sp>
        <p:nvSpPr>
          <p:cNvPr id="36" name="TextBox 35"/>
          <p:cNvSpPr txBox="1"/>
          <p:nvPr/>
        </p:nvSpPr>
        <p:spPr>
          <a:xfrm>
            <a:off x="5443350" y="4251959"/>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1.1%</a:t>
            </a:r>
          </a:p>
        </p:txBody>
      </p:sp>
      <p:sp>
        <p:nvSpPr>
          <p:cNvPr id="37" name="TextBox 36"/>
          <p:cNvSpPr txBox="1"/>
          <p:nvPr/>
        </p:nvSpPr>
        <p:spPr>
          <a:xfrm>
            <a:off x="7509592" y="4251959"/>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91.7%</a:t>
            </a:r>
          </a:p>
        </p:txBody>
      </p:sp>
      <p:sp>
        <p:nvSpPr>
          <p:cNvPr id="38" name="TextBox 37"/>
          <p:cNvSpPr txBox="1"/>
          <p:nvPr/>
        </p:nvSpPr>
        <p:spPr>
          <a:xfrm>
            <a:off x="9793333" y="4251959"/>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8</a:t>
            </a:r>
          </a:p>
        </p:txBody>
      </p:sp>
      <p:sp>
        <p:nvSpPr>
          <p:cNvPr id="39" name="Rectangle 38"/>
          <p:cNvSpPr/>
          <p:nvPr/>
        </p:nvSpPr>
        <p:spPr>
          <a:xfrm>
            <a:off x="658368" y="456285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636007"/>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a second agent arguing</a:t>
            </a:r>
          </a:p>
        </p:txBody>
      </p:sp>
      <p:sp>
        <p:nvSpPr>
          <p:cNvPr id="41" name="TextBox 40"/>
          <p:cNvSpPr txBox="1"/>
          <p:nvPr/>
        </p:nvSpPr>
        <p:spPr>
          <a:xfrm>
            <a:off x="4355854" y="4636007"/>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five</a:t>
            </a:r>
          </a:p>
        </p:txBody>
      </p:sp>
      <p:sp>
        <p:nvSpPr>
          <p:cNvPr id="42" name="TextBox 41"/>
          <p:cNvSpPr txBox="1"/>
          <p:nvPr/>
        </p:nvSpPr>
        <p:spPr>
          <a:xfrm>
            <a:off x="5443350" y="4636007"/>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15.2%</a:t>
            </a:r>
          </a:p>
        </p:txBody>
      </p:sp>
      <p:sp>
        <p:nvSpPr>
          <p:cNvPr id="43" name="TextBox 42"/>
          <p:cNvSpPr txBox="1"/>
          <p:nvPr/>
        </p:nvSpPr>
        <p:spPr>
          <a:xfrm>
            <a:off x="7509592" y="4636007"/>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59.1%</a:t>
            </a:r>
          </a:p>
        </p:txBody>
      </p:sp>
      <p:sp>
        <p:nvSpPr>
          <p:cNvPr id="44" name="TextBox 43"/>
          <p:cNvSpPr txBox="1"/>
          <p:nvPr/>
        </p:nvSpPr>
        <p:spPr>
          <a:xfrm>
            <a:off x="9793333" y="4636007"/>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3</a:t>
            </a:r>
          </a:p>
        </p:txBody>
      </p:sp>
      <p:sp>
        <p:nvSpPr>
          <p:cNvPr id="45" name="TextBox 44"/>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46" name="Rectangle 4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48" name="TextBox 4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57 of 57</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57</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78.9%</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89.5%</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14.3%</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57 cases, same opening prompt, same formulary, same gate, same scorer. Paired within patient, the debate ends on an inadequate drug where the control ends on an adequate one in 7 pairs and the reverse in 0. Exact McNemar p = 0.0156.</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