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in this setup, agent-to-agent argument reduced coverage of the organism,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800</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184 cases did the model change its recommendation because a neutral</a:t>
            </a:r>
          </a:p>
          <a:p>
            <a:r>
              <a:t>interlocutor spoke to it. Under unsupported pressure it changed in 173 to 183 of the same cases.</a:t>
            </a:r>
          </a:p>
          <a:p>
            <a:r>
              <a:t>p is on the order of ten to the minus twenty-one.</a:t>
            </a:r>
          </a:p>
          <a:p>
            <a:r>
              <a:t>The honest part: this runs on 180 to 185 of 200 cases. Every case in the frozen selection now has a row in</a:t>
            </a:r>
          </a:p>
          <a:p>
            <a:r>
              <a:t>every condition, so nothing is missing because an arm stopped early. What drops is 15 to 20 cases per</a:t>
            </a:r>
          </a:p>
          <a:p>
            <a:r>
              <a:t>framing where a condition came back UNDETERMINED, which happens when the laboratory never tested that</a:t>
            </a:r>
          </a:p>
          <a:p>
            <a:r>
              <a:t>drug against that patient's organism. That is a property of what the lab chose to test, not of the model.</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1.1 to 3.5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698 of 800 exposures, 87.2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after the debate has already moved it. It pushes</a:t>
            </a:r>
          </a:p>
          <a:p>
            <a:r>
              <a:t>nobody off an adequate drug, and coverage rises 17.2 points to 95.2 per cent.</a:t>
            </a:r>
          </a:p>
          <a:p>
            <a:r>
              <a:t>If someone asks about the panel replacing the debate rather than following it, that is a different</a:t>
            </a:r>
          </a:p>
          <a:p>
            <a:r>
              <a:t>arm and its harmful revision rate is 1.1 per cent, on the closing slide.</a:t>
            </a:r>
          </a:p>
          <a:p>
            <a:r>
              <a:t>So: multi-agent communication does not improve clinical decision quality here. It degrades it.</a:t>
            </a:r>
          </a:p>
          <a:p>
            <a:r>
              <a:t>Evidence improves it.</a:t>
            </a:r>
          </a:p>
          <a:p>
            <a:r>
              <a:t>If you have the time, add the control in one sentence: I ran the same agent three times with nothing</a:t>
            </a:r>
          </a:p>
          <a:p>
            <a:r>
              <a:t>disagreeing with it, and it kept its answer and its coverage, so it is being contradicted that moves</a:t>
            </a:r>
          </a:p>
          <a:p>
            <a:r>
              <a:t>it and not being asked again. There is a backup slide with the numbers.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a:p>
            <a:r>
              <a:t>There is a second half to the contribution if you have time or if you are asked what causes it.</a:t>
            </a:r>
          </a:p>
          <a:p>
            <a:r>
              <a:t>I did not stop at measuring the harm, I isolated what produces it. Same cases, same opening prompt,</a:t>
            </a:r>
          </a:p>
          <a:p>
            <a:r>
              <a:t>one agent asked three times with nothing disagreeing: it keeps its answer in almost every case and it</a:t>
            </a:r>
          </a:p>
          <a:p>
            <a:r>
              <a:t>keeps its coverage. The few times it does change, it makes the same de-escalation the debate makes,</a:t>
            </a:r>
          </a:p>
          <a:p>
            <a:r>
              <a:t>and almost all of those keep their coverage. So it is being contradicted that moves it, not being</a:t>
            </a:r>
          </a:p>
          <a:p>
            <a:r>
              <a:t>asked again, and the same destination drug carries a very different risk depending on what triggered</a:t>
            </a:r>
          </a:p>
          <a:p>
            <a:r>
              <a:t>the move. It is a claim about rate, not a claim that the model never errs alone. That is the control</a:t>
            </a:r>
          </a:p>
          <a:p>
            <a:r>
              <a:t>slide at the back.</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184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a question she asked me twice.</a:t>
            </a:r>
          </a:p>
          <a:p>
            <a:r>
              <a:t>The rule she set was two comparisons, not one: the model against the ground truth, and the model</a:t>
            </a:r>
          </a:p>
          <a:p>
            <a:r>
              <a:t>against what the clinician actually did. This is the second.</a:t>
            </a:r>
          </a:p>
          <a:p>
            <a:r>
              <a:t>On all 200 cases the model looks 25 points better. That is not a real margin and I do not present it</a:t>
            </a:r>
          </a:p>
          <a:p>
            <a:r>
              <a:t>as one. The clinician scores undetermined in 62 cases, mostly because real prescriptions fall outside</a:t>
            </a:r>
          </a:p>
          <a:p>
            <a:r>
              <a:t>my closed formulary or were never tested against the isolate, so that comparison penalises the</a:t>
            </a:r>
          </a:p>
          <a:p>
            <a:r>
              <a:t>clinician for prescribing outside my answer space.</a:t>
            </a:r>
          </a:p>
          <a:p>
            <a:r>
              <a:t>Restricted to what each side can be scored on, it is 91.1 on 192 cases against 90.6 on 138. Within a</a:t>
            </a:r>
          </a:p>
          <a:p>
            <a:r>
              <a:t>point. Say the next sentence before anyone else does: those are different sets of cases, so that is</a:t>
            </a:r>
          </a:p>
          <a:p>
            <a:r>
              <a:t>two independent proportions and not a paired test. The paired version needs per-case outcomes on the</a:t>
            </a:r>
          </a:p>
          <a:p>
            <a:r>
              <a:t>clinician side and the comparator artefact holds aggregates only, so it is further work and I say so.</a:t>
            </a:r>
          </a:p>
          <a:p>
            <a:r>
              <a:t>The honest answer to her question is that on this evidence neither is better, and the interesting</a:t>
            </a:r>
          </a:p>
          <a:p>
            <a:r>
              <a:t>part is that a constant policy achieves that.</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her ninth ask.</a:t>
            </a:r>
          </a:p>
          <a:p>
            <a:r>
              <a:t>She asked for confidence before and after, and she named the state that worries her: correct and</a:t>
            </a:r>
          </a:p>
          <a:p>
            <a:r>
              <a:t>confident, sees the other agent, wrong and confident.</a:t>
            </a:r>
          </a:p>
          <a:p>
            <a:r>
              <a:t>I nearly withdrew this endpoint, and half of that was right. The binary cannot fail: every single</a:t>
            </a:r>
          </a:p>
          <a:p>
            <a:r>
              <a:t>observation is above my pre-registered threshold of 80, so a rate against that threshold measures my</a:t>
            </a:r>
          </a:p>
          <a:p>
            <a:r>
              <a:t>scale, not the model. I say that before I show anything else.</a:t>
            </a:r>
          </a:p>
          <a:p>
            <a:r>
              <a:t>But the number itself moves, and it moves in opposite directions depending on what happened. When the</a:t>
            </a:r>
          </a:p>
          <a:p>
            <a:r>
              <a:t>model holds a correct answer under challenge it gets less certain, about three points. When it</a:t>
            </a:r>
          </a:p>
          <a:p>
            <a:r>
              <a:t>abandons a correct answer for a wrong one it gets MORE certain, five points. That is the state she</a:t>
            </a:r>
          </a:p>
          <a:p>
            <a:r>
              <a:t>predicted, in the direction she predicted.</a:t>
            </a:r>
          </a:p>
          <a:p>
            <a:r>
              <a:t>The honest bound is the cell size: 15 exposures. I use a permutation test because it is valid</a:t>
            </a:r>
          </a:p>
          <a:p>
            <a:r>
              <a:t>at any n, and I do not quote it as an effect size.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answers the three questions a clinician asks first.</a:t>
            </a:r>
          </a:p>
          <a:p>
            <a:r>
              <a:t>Which bugs: 20 organisms, 126 of 200 are Escherichia Coli, and every case is Gram negative.</a:t>
            </a:r>
          </a:p>
          <a:p>
            <a:r>
              <a:t>That is a property of the frame, and it means five of my seventeen agents are Gram-positive drugs</a:t>
            </a:r>
          </a:p>
          <a:p>
            <a:r>
              <a:t>that could never be right here.</a:t>
            </a:r>
          </a:p>
          <a:p>
            <a:r>
              <a:t>Intermediate: 3.0 per cent of verdict rows. I do not fold it into either bucket. The case gets</a:t>
            </a:r>
          </a:p>
          <a:p>
            <a:r>
              <a:t>its own class and leaves the numerator, because calling Intermediate a success or a failure would be</a:t>
            </a:r>
          </a:p>
          <a:p>
            <a:r>
              <a:t>a decision I am not entitled to make.</a:t>
            </a:r>
          </a:p>
          <a:p>
            <a:r>
              <a:t>Undetermined: 40.6 per cent of case-drug pairs, because the lab never tested that drug against that</a:t>
            </a:r>
          </a:p>
          <a:p>
            <a:r>
              <a:t>patient's organism. That is the biggest constraint in the whole design.</a:t>
            </a:r>
          </a:p>
          <a:p>
            <a:r>
              <a:t>And the ceiling is 99.5 per cent, so my 87.5 baseline was not bumping against a limit. There were about</a:t>
            </a:r>
          </a:p>
          <a:p>
            <a:r>
              <a:t>twelve points on the table and the model did not take them.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Use it if someone asks whether the framing of the challenge is what matters.</a:t>
            </a:r>
          </a:p>
          <a:p>
            <a:r>
              <a:t>It is not. All four framings sit in a narrow band, 1.1 to 3.5 per cent harmful revision, when the</a:t>
            </a:r>
          </a:p>
          <a:p>
            <a:r>
              <a:t>model is challenged once. Five turns of the same kind of challenge costs 15.2 per cent.</a:t>
            </a:r>
          </a:p>
          <a:p>
            <a:r>
              <a:t>The variable is how long the conversation runs, not how the challenge is worded.</a:t>
            </a:r>
          </a:p>
          <a:p>
            <a:r>
              <a:t>Two more things fall out of this table.</a:t>
            </a:r>
          </a:p>
          <a:p>
            <a:r>
              <a:t>First, a challenge carrying no evidence corrects an inadequate opening almost as often as the real</a:t>
            </a:r>
          </a:p>
          <a:p>
            <a:r>
              <a:t>susceptibility panel does, 66.7 to 81.8 per cent against 91.7 per cent. The model revises at close to</a:t>
            </a:r>
          </a:p>
          <a:p>
            <a:r>
              <a:t>the right rate for none of the right reasons.</a:t>
            </a:r>
          </a:p>
          <a:p>
            <a:r>
              <a:t>Second, the answer space narrows. Given the panel, 8 different drugs are still in play across the</a:t>
            </a:r>
          </a:p>
          <a:p>
            <a:r>
              <a:t>cohort. After the debate, 3. The debate does not only pick worse, it stops considering.</a:t>
            </a:r>
          </a:p>
          <a:p>
            <a:r>
              <a:t>If someone asks whether that is the debate or just being asked repeatedly, say I built the control:</a:t>
            </a:r>
          </a:p>
          <a:p>
            <a:r>
              <a:t>one agent, same cases, same opening prompt, three speaking turns, nothing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and it is the answer to the obvious objection.</a:t>
            </a:r>
          </a:p>
          <a:p>
            <a:r>
              <a:t>Someone will say: five turns cost you coverage, but is that the debate or is it just being asked</a:t>
            </a:r>
          </a:p>
          <a:p>
            <a:r>
              <a:t>three times? The debate arm cannot separate those, because it varies both at once.</a:t>
            </a:r>
          </a:p>
          <a:p>
            <a:r>
              <a:t>So I ran the control. One agent, the same specialist, the same 200 frozen cases, the same round-0</a:t>
            </a:r>
          </a:p>
          <a:p>
            <a:r>
              <a:t>prompt byte for byte, the same formulary, the same leakage gate, the same scorer. It speaks three</a:t>
            </a:r>
          </a:p>
          <a:p>
            <a:r>
              <a:t>times, exactly as many times as the specialist speaks in the debate, and between turns it sees only</a:t>
            </a:r>
          </a:p>
          <a:p>
            <a:r>
              <a:t>its own previous text. Nothing disagrees with it.</a:t>
            </a:r>
          </a:p>
          <a:p>
            <a:r>
              <a:t>With a counterpart it changes its drug in every run. Without one, 6 of 200.</a:t>
            </a:r>
          </a:p>
          <a:p>
            <a:r>
              <a:t>Coverage is 87 per cent against 77, and harmful revision is 0.6 per cent against 17.</a:t>
            </a:r>
          </a:p>
          <a:p>
            <a:r>
              <a:t>Paired within patient, exact McNemar p = 7.45e-09.</a:t>
            </a:r>
          </a:p>
          <a:p>
            <a:r>
              <a:t>So the counterpart is what moves it. Being asked again is not enough.</a:t>
            </a:r>
          </a:p>
          <a:p>
            <a:r>
              <a:t>Say the limitation out loud: it does not hold context length constant. The debate transcript is</a:t>
            </a:r>
          </a:p>
          <a:p>
            <a:r>
              <a:t>about twice as long by the final turn. That control is the next thing to run.</a:t>
            </a:r>
          </a:p>
          <a:p>
            <a:r>
              <a:t>Say the coverage out loud too: 200 of 200 cases, a contiguous prefix, run against the clock.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14</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800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the two personas are Zhikang Chen's, 23 July 2026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400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173 to 183</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1.7e-52</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180 to 185 of 200</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evaluable in all four conditions, per framing</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covers all 200 cases in the frozen selection, so nothing is missing because an arm stopped early. 15 to 20 cases per framing are dropped because a condition returned UNDETERMINED or INTERMEDIATE_ONLY, which is a property of what the laboratory chose to test rather than of the model. The primary set is 180 to 185.</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1.1 to 3.5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87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 five turns</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 after the debate</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0.0%</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1.1 to 3.5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87.2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192024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baseline is a constant</a:t>
            </a:r>
          </a:p>
        </p:txBody>
      </p:sp>
      <p:sp>
        <p:nvSpPr>
          <p:cNvPr id="6" name="TextBox 5"/>
          <p:cNvSpPr txBox="1"/>
          <p:nvPr/>
        </p:nvSpPr>
        <p:spPr>
          <a:xfrm>
            <a:off x="658368"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278892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primary test runs on 180 to 185 of 200</a:t>
            </a:r>
          </a:p>
        </p:txBody>
      </p:sp>
      <p:sp>
        <p:nvSpPr>
          <p:cNvPr id="9" name="TextBox 8"/>
          <p:cNvSpPr txBox="1"/>
          <p:nvPr/>
        </p:nvSpPr>
        <p:spPr>
          <a:xfrm>
            <a:off x="658368"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case now carries a row in every condition. 15 to 20 per framing drop because a condition returns UNDETERMINED, which is a property of what the laboratory chose to test. It is still attrition.</a:t>
            </a:r>
          </a:p>
        </p:txBody>
      </p:sp>
      <p:sp>
        <p:nvSpPr>
          <p:cNvPr id="10" name="Rectangle 9"/>
          <p:cNvSpPr/>
          <p:nvPr/>
        </p:nvSpPr>
        <p:spPr>
          <a:xfrm>
            <a:off x="658368" y="3657600"/>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confidence binary cannot fail</a:t>
            </a:r>
          </a:p>
        </p:txBody>
      </p:sp>
      <p:sp>
        <p:nvSpPr>
          <p:cNvPr id="12" name="TextBox 11"/>
          <p:cNvSpPr txBox="1"/>
          <p:nvPr/>
        </p:nvSpPr>
        <p:spPr>
          <a:xfrm>
            <a:off x="658368"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Every observation sits above the pre-registered threshold of 80, so the binary is degenerate and is not reported as a test. The continuous measure is reported instead, and the harmful-deference cell it rests on is small.</a:t>
            </a:r>
          </a:p>
        </p:txBody>
      </p:sp>
      <p:sp>
        <p:nvSpPr>
          <p:cNvPr id="13" name="Rectangle 12"/>
          <p:cNvSpPr/>
          <p:nvPr/>
        </p:nvSpPr>
        <p:spPr>
          <a:xfrm>
            <a:off x="658368" y="4526279"/>
            <a:ext cx="5254599" cy="12801"/>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Clustering, not independence</a:t>
            </a:r>
          </a:p>
        </p:txBody>
      </p:sp>
      <p:sp>
        <p:nvSpPr>
          <p:cNvPr id="15" name="TextBox 14"/>
          <p:cNvSpPr txBox="1"/>
          <p:nvPr/>
        </p:nvSpPr>
        <p:spPr>
          <a:xfrm>
            <a:off x="658368"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6" name="Rectangle 15"/>
          <p:cNvSpPr/>
          <p:nvPr/>
        </p:nvSpPr>
        <p:spPr>
          <a:xfrm>
            <a:off x="6278727" y="192024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202996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The counterpart is scripted, not alive</a:t>
            </a:r>
          </a:p>
        </p:txBody>
      </p:sp>
      <p:sp>
        <p:nvSpPr>
          <p:cNvPr id="18" name="TextBox 17"/>
          <p:cNvSpPr txBox="1"/>
          <p:nvPr/>
        </p:nvSpPr>
        <p:spPr>
          <a:xfrm>
            <a:off x="6278727" y="230428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Fixed challenge sentences buy internal validity and give up realism. A real second agent would vary its argument with the case.</a:t>
            </a:r>
          </a:p>
        </p:txBody>
      </p:sp>
      <p:sp>
        <p:nvSpPr>
          <p:cNvPr id="19" name="Rectangle 18"/>
          <p:cNvSpPr/>
          <p:nvPr/>
        </p:nvSpPr>
        <p:spPr>
          <a:xfrm>
            <a:off x="6278727" y="278892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289864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arm was superseded before it was used</a:t>
            </a:r>
          </a:p>
        </p:txBody>
      </p:sp>
      <p:sp>
        <p:nvSpPr>
          <p:cNvPr id="21" name="TextBox 20"/>
          <p:cNvSpPr txBox="1"/>
          <p:nvPr/>
        </p:nvSpPr>
        <p:spPr>
          <a:xfrm>
            <a:off x="6278727" y="317296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plausible-wrong seeding arm reached its planned 312 exposures and is superseded by the drug-matched design, which holds the drug name fixed and varies the patient instead. It carries no result in this deck.</a:t>
            </a:r>
          </a:p>
        </p:txBody>
      </p:sp>
      <p:sp>
        <p:nvSpPr>
          <p:cNvPr id="22" name="Rectangle 21"/>
          <p:cNvSpPr/>
          <p:nvPr/>
        </p:nvSpPr>
        <p:spPr>
          <a:xfrm>
            <a:off x="6278727" y="365760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78727" y="376732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Every case is Gram negative</a:t>
            </a:r>
          </a:p>
        </p:txBody>
      </p:sp>
      <p:sp>
        <p:nvSpPr>
          <p:cNvPr id="24" name="TextBox 23"/>
          <p:cNvSpPr txBox="1"/>
          <p:nvPr/>
        </p:nvSpPr>
        <p:spPr>
          <a:xfrm>
            <a:off x="6278727" y="404164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All 200 cases, 20 organisms, 126 of them Escherichia Coli. Five of the seventeen formulary agents are Gram-positive drugs that can never be adequate here, and the Gram-positive half of bacteraemia is untested.</a:t>
            </a:r>
          </a:p>
        </p:txBody>
      </p:sp>
      <p:sp>
        <p:nvSpPr>
          <p:cNvPr id="25" name="Rectangle 24"/>
          <p:cNvSpPr/>
          <p:nvPr/>
        </p:nvSpPr>
        <p:spPr>
          <a:xfrm>
            <a:off x="6278727" y="4526279"/>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78727" y="4636007"/>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One 4B checkpoint, run locally</a:t>
            </a:r>
          </a:p>
        </p:txBody>
      </p:sp>
      <p:sp>
        <p:nvSpPr>
          <p:cNvPr id="27" name="TextBox 26"/>
          <p:cNvSpPr txBox="1"/>
          <p:nvPr/>
        </p:nvSpPr>
        <p:spPr>
          <a:xfrm>
            <a:off x="6278727" y="4910327"/>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MIMIC-IV is credentialed, so no record-level data may reach a hosted service. Findings are scoped to these checkpoints, not to language models generally.</a:t>
            </a:r>
          </a:p>
        </p:txBody>
      </p:sp>
      <p:sp>
        <p:nvSpPr>
          <p:cNvPr id="28" name="Rectangle 27"/>
          <p:cNvSpPr/>
          <p:nvPr/>
        </p:nvSpPr>
        <p:spPr>
          <a:xfrm>
            <a:off x="6278727" y="5394960"/>
            <a:ext cx="5254599" cy="12801"/>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78727" y="5504688"/>
            <a:ext cx="5254599" cy="274320"/>
          </a:xfrm>
          <a:prstGeom prst="rect">
            <a:avLst/>
          </a:prstGeom>
          <a:noFill/>
        </p:spPr>
        <p:txBody>
          <a:bodyPr wrap="square" anchor="t" lIns="0" rIns="0" tIns="0" bIns="0">
            <a:spAutoFit/>
          </a:bodyPr>
          <a:lstStyle/>
          <a:p>
            <a:pPr algn="l">
              <a:lnSpc>
                <a:spcPct val="110000"/>
              </a:lnSpc>
              <a:spcAft>
                <a:spcPts val="0"/>
              </a:spcAft>
            </a:pPr>
            <a:r>
              <a:rPr sz="1250" b="1" i="0">
                <a:solidFill>
                  <a:srgbClr val="161616"/>
                </a:solidFill>
                <a:latin typeface="IBM Plex Sans"/>
              </a:rPr>
              <a:t>No clinician has reviewed this design</a:t>
            </a:r>
          </a:p>
        </p:txBody>
      </p:sp>
      <p:sp>
        <p:nvSpPr>
          <p:cNvPr id="30" name="TextBox 29"/>
          <p:cNvSpPr txBox="1"/>
          <p:nvPr/>
        </p:nvSpPr>
        <p:spPr>
          <a:xfrm>
            <a:off x="6278727" y="5779008"/>
            <a:ext cx="5254599" cy="640080"/>
          </a:xfrm>
          <a:prstGeom prst="rect">
            <a:avLst/>
          </a:prstGeom>
          <a:noFill/>
        </p:spPr>
        <p:txBody>
          <a:bodyPr wrap="square" anchor="t" lIns="0" rIns="0" tIns="0" bIns="0">
            <a:spAutoFit/>
          </a:bodyPr>
          <a:lstStyle/>
          <a:p>
            <a:pPr algn="l">
              <a:lnSpc>
                <a:spcPct val="125000"/>
              </a:lnSpc>
              <a:spcAft>
                <a:spcPts val="0"/>
              </a:spcAft>
            </a:pPr>
            <a:r>
              <a:rPr sz="95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31" name="Rectangle 3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33" name="TextBox 3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Strip the speaker. </a:t>
            </a:r>
            <a:r>
              <a:rPr sz="1350" b="0" i="0">
                <a:solidFill>
                  <a:srgbClr val="A8A8A8"/>
                </a:solidFill>
                <a:latin typeface="IBM Plex Sans"/>
              </a:rPr>
              <a:t>The control shows a counterpart moves it where being asked again does not. Keeping the counterpart's text and removing only the attribution is what separates a peer from any rival position, and it is the one control this design has always been missing.</a:t>
            </a:r>
          </a:p>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87.2%</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panel replaces the debate</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TextBox 11"/>
          <p:cNvSpPr txBox="1"/>
          <p:nvPr/>
        </p:nvSpPr>
        <p:spPr>
          <a:xfrm>
            <a:off x="658368" y="3401568"/>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Both personas are Zhikang Chen's, by name and in writing, 23 July 2026: </a:t>
            </a:r>
            <a:r>
              <a:rPr sz="1150" b="0" i="1">
                <a:solidFill>
                  <a:srgbClr val="525252"/>
                </a:solidFill>
                <a:latin typeface="IBM Plex Sans"/>
              </a:rPr>
              <a:t>“assign Agent A the identity of an infectious disease specialist and Agent B the role of antimicrobial stewardship lead, so that each has a clear, potentially conflicting incentive.” The supporter and opponent architecture is his too.</a:t>
            </a:r>
          </a:p>
        </p:txBody>
      </p:sp>
      <p:sp>
        <p:nvSpPr>
          <p:cNvPr id="13" name="Rectangle 12"/>
          <p:cNvSpPr/>
          <p:nvPr/>
        </p:nvSpPr>
        <p:spPr>
          <a:xfrm>
            <a:off x="65836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6" name="TextBox 15"/>
          <p:cNvSpPr txBox="1"/>
          <p:nvPr/>
        </p:nvSpPr>
        <p:spPr>
          <a:xfrm>
            <a:off x="93268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7" name="Rectangle 16"/>
          <p:cNvSpPr/>
          <p:nvPr/>
        </p:nvSpPr>
        <p:spPr>
          <a:xfrm>
            <a:off x="436869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36869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4301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20" name="TextBox 19"/>
          <p:cNvSpPr txBox="1"/>
          <p:nvPr/>
        </p:nvSpPr>
        <p:spPr>
          <a:xfrm>
            <a:off x="464301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1" name="Rectangle 20"/>
          <p:cNvSpPr/>
          <p:nvPr/>
        </p:nvSpPr>
        <p:spPr>
          <a:xfrm>
            <a:off x="8079028" y="3968496"/>
            <a:ext cx="3454298" cy="14630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79028" y="3968496"/>
            <a:ext cx="50292" cy="14630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3348" y="4187952"/>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4" name="TextBox 23"/>
          <p:cNvSpPr txBox="1"/>
          <p:nvPr/>
        </p:nvSpPr>
        <p:spPr>
          <a:xfrm>
            <a:off x="8353348" y="4436554"/>
            <a:ext cx="2951378" cy="7315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5" name="TextBox 24"/>
          <p:cNvSpPr txBox="1"/>
          <p:nvPr/>
        </p:nvSpPr>
        <p:spPr>
          <a:xfrm>
            <a:off x="658368" y="5669280"/>
            <a:ext cx="10874959" cy="457200"/>
          </a:xfrm>
          <a:prstGeom prst="rect">
            <a:avLst/>
          </a:prstGeom>
          <a:noFill/>
        </p:spPr>
        <p:txBody>
          <a:bodyPr wrap="square" anchor="t" lIns="0" rIns="0" tIns="0" bIns="0">
            <a:spAutoFit/>
          </a:bodyPr>
          <a:lstStyle/>
          <a:p>
            <a:pPr algn="l">
              <a:lnSpc>
                <a:spcPct val="130000"/>
              </a:lnSpc>
              <a:spcAft>
                <a:spcPts val="0"/>
              </a:spcAft>
            </a:pPr>
            <a:r>
              <a:rPr sz="1250" b="0" i="0">
                <a:solidFill>
                  <a:srgbClr val="525252"/>
                </a:solidFill>
                <a:latin typeface="IBM Plex Sans"/>
              </a:rPr>
              <a:t>The two identities carry a real clinical tension rather than an invented one. If deference exists, opposed incentives should make it visible.</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800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5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MedBERT</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72/200 = 36.0%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9" name="Rectangle 38"/>
          <p:cNvSpPr/>
          <p:nvPr/>
        </p:nvSpPr>
        <p:spPr>
          <a:xfrm>
            <a:off x="658368" y="6199631"/>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6272783"/>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41" name="TextBox 40"/>
          <p:cNvSpPr txBox="1"/>
          <p:nvPr/>
        </p:nvSpPr>
        <p:spPr>
          <a:xfrm>
            <a:off x="3809931" y="6272783"/>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42" name="TextBox 41"/>
          <p:cNvSpPr txBox="1"/>
          <p:nvPr/>
        </p:nvSpPr>
        <p:spPr>
          <a:xfrm>
            <a:off x="5728273" y="6272783"/>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43" name="Rectangle 42"/>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5" name="TextBox 44"/>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6" name="TextBox 45"/>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7" name="TextBox 46"/>
          <p:cNvSpPr txBox="1"/>
          <p:nvPr/>
        </p:nvSpPr>
        <p:spPr>
          <a:xfrm>
            <a:off x="658368" y="6272784"/>
            <a:ext cx="10874959" cy="365760"/>
          </a:xfrm>
          <a:prstGeom prst="rect">
            <a:avLst/>
          </a:prstGeom>
          <a:noFill/>
        </p:spPr>
        <p:txBody>
          <a:bodyPr wrap="square" anchor="t" lIns="0" rIns="0" tIns="0" bIns="0">
            <a:spAutoFit/>
          </a:bodyPr>
          <a:lstStyle/>
          <a:p>
            <a:pPr algn="l">
              <a:lnSpc>
                <a:spcPct val="125000"/>
              </a:lnSpc>
              <a:spcAft>
                <a:spcPts val="0"/>
              </a:spcAft>
            </a:pPr>
            <a:r>
              <a:rPr sz="1050" b="1" i="0">
                <a:solidFill>
                  <a:srgbClr val="161616"/>
                </a:solidFill>
                <a:latin typeface="IBM Plex Sans"/>
              </a:rPr>
              <a:t>Her ask was “Med Bert or ClinicalBert etc”, and ClinicalBERT is here. </a:t>
            </a:r>
            <a:r>
              <a:rPr sz="1050" b="0" i="0">
                <a:solidFill>
                  <a:srgbClr val="525252"/>
                </a:solidFill>
                <a:latin typeface="IBM Plex Sans"/>
              </a:rPr>
              <a:t>Med-BERT itself is not: it is trained on structured diagnosis codes rather than free text, so it needs a different input representation, and that is a separate build rather than a fourth column.</a:t>
            </a:r>
          </a:p>
        </p:txBody>
      </p:sp>
      <p:sp>
        <p:nvSpPr>
          <p:cNvPr id="48" name="TextBox 47"/>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9" name="Rectangle 4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51" name="TextBox 5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251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311 held with no harmful revisions.</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87.2%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57/65 = 87.7% of INADEQUATE entrants   held 311/311 = 100.0%</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model against the clinician, her second comparison</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“You can also compare LLM with clinician see if they agree or LLM is worse or better?”   Prof. Tingting Zhu, 30 July 2026</a:t>
            </a:r>
          </a:p>
        </p:txBody>
      </p:sp>
      <p:sp>
        <p:nvSpPr>
          <p:cNvPr id="5" name="TextBox 4"/>
          <p:cNvSpPr txBox="1"/>
          <p:nvPr/>
        </p:nvSpPr>
        <p:spPr>
          <a:xfrm>
            <a:off x="658368" y="2651760"/>
            <a:ext cx="489275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SCORED AGAINST THE SAME PANELS, BY THE SAME RULE</a:t>
            </a:r>
          </a:p>
        </p:txBody>
      </p:sp>
      <p:sp>
        <p:nvSpPr>
          <p:cNvPr id="6" name="TextBox 5"/>
          <p:cNvSpPr txBox="1"/>
          <p:nvPr/>
        </p:nvSpPr>
        <p:spPr>
          <a:xfrm>
            <a:off x="5660849"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ALL CASES</a:t>
            </a:r>
          </a:p>
        </p:txBody>
      </p:sp>
      <p:sp>
        <p:nvSpPr>
          <p:cNvPr id="7" name="TextBox 6"/>
          <p:cNvSpPr txBox="1"/>
          <p:nvPr/>
        </p:nvSpPr>
        <p:spPr>
          <a:xfrm>
            <a:off x="8597088" y="2651760"/>
            <a:ext cx="282651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 THAT SIDE CAN BE SCORED ON</a:t>
            </a:r>
          </a:p>
        </p:txBody>
      </p:sp>
      <p:sp>
        <p:nvSpPr>
          <p:cNvPr id="8" name="Rectangle 7"/>
          <p:cNvSpPr/>
          <p:nvPr/>
        </p:nvSpPr>
        <p:spPr>
          <a:xfrm>
            <a:off x="658368" y="30358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218688"/>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clinician's actual empiric prescription</a:t>
            </a:r>
          </a:p>
        </p:txBody>
      </p:sp>
      <p:sp>
        <p:nvSpPr>
          <p:cNvPr id="10" name="TextBox 9"/>
          <p:cNvSpPr txBox="1"/>
          <p:nvPr/>
        </p:nvSpPr>
        <p:spPr>
          <a:xfrm>
            <a:off x="5660849" y="3218688"/>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125/200 = 62.5%</a:t>
            </a:r>
          </a:p>
        </p:txBody>
      </p:sp>
      <p:sp>
        <p:nvSpPr>
          <p:cNvPr id="11" name="TextBox 10"/>
          <p:cNvSpPr txBox="1"/>
          <p:nvPr/>
        </p:nvSpPr>
        <p:spPr>
          <a:xfrm>
            <a:off x="8597088" y="3218688"/>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125/138 = 90.6%</a:t>
            </a:r>
          </a:p>
        </p:txBody>
      </p:sp>
      <p:sp>
        <p:nvSpPr>
          <p:cNvPr id="12" name="Rectangle 11"/>
          <p:cNvSpPr/>
          <p:nvPr/>
        </p:nvSpPr>
        <p:spPr>
          <a:xfrm>
            <a:off x="658368" y="362102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694176"/>
            <a:ext cx="4892753"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the model, zero-shot, before any conversation</a:t>
            </a:r>
          </a:p>
        </p:txBody>
      </p:sp>
      <p:sp>
        <p:nvSpPr>
          <p:cNvPr id="14" name="TextBox 13"/>
          <p:cNvSpPr txBox="1"/>
          <p:nvPr/>
        </p:nvSpPr>
        <p:spPr>
          <a:xfrm>
            <a:off x="5660849" y="3694176"/>
            <a:ext cx="2826510" cy="475488"/>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175/200 = 87.5%</a:t>
            </a:r>
          </a:p>
        </p:txBody>
      </p:sp>
      <p:sp>
        <p:nvSpPr>
          <p:cNvPr id="15" name="TextBox 14"/>
          <p:cNvSpPr txBox="1"/>
          <p:nvPr/>
        </p:nvSpPr>
        <p:spPr>
          <a:xfrm>
            <a:off x="8597088" y="3694176"/>
            <a:ext cx="2826510" cy="475488"/>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175/192 = 91.1%</a:t>
            </a:r>
          </a:p>
        </p:txBody>
      </p:sp>
      <p:sp>
        <p:nvSpPr>
          <p:cNvPr id="16" name="TextBox 15"/>
          <p:cNvSpPr txBox="1"/>
          <p:nvPr/>
        </p:nvSpPr>
        <p:spPr>
          <a:xfrm>
            <a:off x="658368" y="4041648"/>
            <a:ext cx="10874959" cy="109728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The 25-point margin on the full cohort is a denominator artefact, and I report it as one. </a:t>
            </a:r>
            <a:r>
              <a:rPr sz="1300" b="0" i="0">
                <a:solidFill>
                  <a:srgbClr val="525252"/>
                </a:solidFill>
                <a:latin typeface="IBM Plex Sans"/>
              </a:rPr>
              <a:t>The clinician scores UNDETERMINED in 62 of 200 cases, largely because real prescriptions fall outside the closed 17-drug formulary or were never tested against the isolate, so that comparison penalises the clinician for prescribing outside the model's answer space. Restricted to what each side can be scored on, the two rates are within a point of each other, 91.1% on 192 cases against 90.6% on 138. Those are different sets of cases, so this is two independent proportions and not a paired test. The answer to her question is that on this evidence neither is better.</a:t>
            </a:r>
          </a:p>
        </p:txBody>
      </p:sp>
      <p:sp>
        <p:nvSpPr>
          <p:cNvPr id="17" name="Rectangle 16"/>
          <p:cNvSpPr/>
          <p:nvPr/>
        </p:nvSpPr>
        <p:spPr>
          <a:xfrm>
            <a:off x="658368" y="5230368"/>
            <a:ext cx="10874959" cy="78638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394960"/>
            <a:ext cx="10326319" cy="548640"/>
          </a:xfrm>
          <a:prstGeom prst="rect">
            <a:avLst/>
          </a:prstGeom>
          <a:noFill/>
        </p:spPr>
        <p:txBody>
          <a:bodyPr wrap="square" anchor="t" lIns="0" rIns="0" tIns="0" bIns="0">
            <a:spAutoFit/>
          </a:bodyPr>
          <a:lstStyle/>
          <a:p>
            <a:pPr algn="l">
              <a:lnSpc>
                <a:spcPct val="132000"/>
              </a:lnSpc>
              <a:spcAft>
                <a:spcPts val="0"/>
              </a:spcAft>
            </a:pPr>
            <a:r>
              <a:rPr sz="1150" b="0" i="0">
                <a:solidFill>
                  <a:srgbClr val="161616"/>
                </a:solidFill>
                <a:latin typeface="IBM Plex Sans"/>
              </a:rPr>
              <a:t>Both sides are scored by the identical rule, fixed in the protocol before this was computed: a regimen covers if any agent in it covers, and a polymicrobial case is adequate only if every pathogenic isolate is covered. Comparator window [index_time, index_time + 24h], fixed rather than chosen after seeing which window scored best.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results/clinician_comparison.json  ·  analysis/clinician_comparison.py  ·  identical scoring rule, protocol_v1 line 65</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Confidence before and after, and the state she predicted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particularly concerning state isn't merely wrong after persuasion; it's: correct + confident, sees other agent, wrong + confident.”   Prof. Tingting Zhu, 18 August 2026</a:t>
            </a:r>
          </a:p>
        </p:txBody>
      </p:sp>
      <p:sp>
        <p:nvSpPr>
          <p:cNvPr id="5" name="TextBox 4"/>
          <p:cNvSpPr txBox="1"/>
          <p:nvPr/>
        </p:nvSpPr>
        <p:spPr>
          <a:xfrm>
            <a:off x="658368" y="2651760"/>
            <a:ext cx="2709061"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TRANSITION CELL</a:t>
            </a:r>
          </a:p>
        </p:txBody>
      </p:sp>
      <p:sp>
        <p:nvSpPr>
          <p:cNvPr id="6" name="TextBox 5"/>
          <p:cNvSpPr txBox="1"/>
          <p:nvPr/>
        </p:nvSpPr>
        <p:spPr>
          <a:xfrm>
            <a:off x="3477157" y="2651760"/>
            <a:ext cx="82986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N</a:t>
            </a:r>
          </a:p>
        </p:txBody>
      </p:sp>
      <p:sp>
        <p:nvSpPr>
          <p:cNvPr id="7" name="TextBox 6"/>
          <p:cNvSpPr txBox="1"/>
          <p:nvPr/>
        </p:nvSpPr>
        <p:spPr>
          <a:xfrm>
            <a:off x="4416753" y="2651760"/>
            <a:ext cx="16128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CONFIDENCE BEFORE</a:t>
            </a:r>
          </a:p>
        </p:txBody>
      </p:sp>
      <p:sp>
        <p:nvSpPr>
          <p:cNvPr id="8" name="TextBox 7"/>
          <p:cNvSpPr txBox="1"/>
          <p:nvPr/>
        </p:nvSpPr>
        <p:spPr>
          <a:xfrm>
            <a:off x="6139347" y="2651760"/>
            <a:ext cx="9864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AFTER</a:t>
            </a:r>
          </a:p>
        </p:txBody>
      </p:sp>
      <p:sp>
        <p:nvSpPr>
          <p:cNvPr id="9" name="TextBox 8"/>
          <p:cNvSpPr txBox="1"/>
          <p:nvPr/>
        </p:nvSpPr>
        <p:spPr>
          <a:xfrm>
            <a:off x="7235543" y="2651760"/>
            <a:ext cx="11430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CHANGE</a:t>
            </a:r>
          </a:p>
        </p:txBody>
      </p:sp>
      <p:sp>
        <p:nvSpPr>
          <p:cNvPr id="10" name="Rectangle 9"/>
          <p:cNvSpPr/>
          <p:nvPr/>
        </p:nvSpPr>
        <p:spPr>
          <a:xfrm>
            <a:off x="658368" y="3035808"/>
            <a:ext cx="7829970"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218688"/>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stable correct</a:t>
            </a:r>
          </a:p>
        </p:txBody>
      </p:sp>
      <p:sp>
        <p:nvSpPr>
          <p:cNvPr id="12" name="TextBox 11"/>
          <p:cNvSpPr txBox="1"/>
          <p:nvPr/>
        </p:nvSpPr>
        <p:spPr>
          <a:xfrm>
            <a:off x="3477157" y="3218688"/>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677</a:t>
            </a:r>
          </a:p>
        </p:txBody>
      </p:sp>
      <p:sp>
        <p:nvSpPr>
          <p:cNvPr id="13" name="TextBox 12"/>
          <p:cNvSpPr txBox="1"/>
          <p:nvPr/>
        </p:nvSpPr>
        <p:spPr>
          <a:xfrm>
            <a:off x="4416753" y="3218688"/>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94.7</a:t>
            </a:r>
          </a:p>
        </p:txBody>
      </p:sp>
      <p:sp>
        <p:nvSpPr>
          <p:cNvPr id="14" name="TextBox 13"/>
          <p:cNvSpPr txBox="1"/>
          <p:nvPr/>
        </p:nvSpPr>
        <p:spPr>
          <a:xfrm>
            <a:off x="6139347" y="3218688"/>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15" name="TextBox 14"/>
          <p:cNvSpPr txBox="1"/>
          <p:nvPr/>
        </p:nvSpPr>
        <p:spPr>
          <a:xfrm>
            <a:off x="7235543" y="3218688"/>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-3.4</a:t>
            </a:r>
          </a:p>
        </p:txBody>
      </p:sp>
      <p:sp>
        <p:nvSpPr>
          <p:cNvPr id="16" name="Rectangle 15"/>
          <p:cNvSpPr/>
          <p:nvPr/>
        </p:nvSpPr>
        <p:spPr>
          <a:xfrm>
            <a:off x="658368" y="3547872"/>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21024"/>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beneficial correction</a:t>
            </a:r>
          </a:p>
        </p:txBody>
      </p:sp>
      <p:sp>
        <p:nvSpPr>
          <p:cNvPr id="18" name="TextBox 17"/>
          <p:cNvSpPr txBox="1"/>
          <p:nvPr/>
        </p:nvSpPr>
        <p:spPr>
          <a:xfrm>
            <a:off x="3477157" y="3621024"/>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34</a:t>
            </a:r>
          </a:p>
        </p:txBody>
      </p:sp>
      <p:sp>
        <p:nvSpPr>
          <p:cNvPr id="19" name="TextBox 18"/>
          <p:cNvSpPr txBox="1"/>
          <p:nvPr/>
        </p:nvSpPr>
        <p:spPr>
          <a:xfrm>
            <a:off x="4416753" y="3621024"/>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95.0</a:t>
            </a:r>
          </a:p>
        </p:txBody>
      </p:sp>
      <p:sp>
        <p:nvSpPr>
          <p:cNvPr id="20" name="TextBox 19"/>
          <p:cNvSpPr txBox="1"/>
          <p:nvPr/>
        </p:nvSpPr>
        <p:spPr>
          <a:xfrm>
            <a:off x="6139347" y="3621024"/>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91.3</a:t>
            </a:r>
          </a:p>
        </p:txBody>
      </p:sp>
      <p:sp>
        <p:nvSpPr>
          <p:cNvPr id="21" name="TextBox 20"/>
          <p:cNvSpPr txBox="1"/>
          <p:nvPr/>
        </p:nvSpPr>
        <p:spPr>
          <a:xfrm>
            <a:off x="7235543" y="3621024"/>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0F62FE"/>
                </a:solidFill>
                <a:latin typeface="IBM Plex Sans"/>
              </a:rPr>
              <a:t>-3.7</a:t>
            </a:r>
          </a:p>
        </p:txBody>
      </p:sp>
      <p:sp>
        <p:nvSpPr>
          <p:cNvPr id="22" name="Rectangle 21"/>
          <p:cNvSpPr/>
          <p:nvPr/>
        </p:nvSpPr>
        <p:spPr>
          <a:xfrm>
            <a:off x="658368" y="3950208"/>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023359"/>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harmful deference</a:t>
            </a:r>
          </a:p>
        </p:txBody>
      </p:sp>
      <p:sp>
        <p:nvSpPr>
          <p:cNvPr id="24" name="TextBox 23"/>
          <p:cNvSpPr txBox="1"/>
          <p:nvPr/>
        </p:nvSpPr>
        <p:spPr>
          <a:xfrm>
            <a:off x="3477157" y="4023359"/>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15</a:t>
            </a:r>
          </a:p>
        </p:txBody>
      </p:sp>
      <p:sp>
        <p:nvSpPr>
          <p:cNvPr id="25" name="TextBox 24"/>
          <p:cNvSpPr txBox="1"/>
          <p:nvPr/>
        </p:nvSpPr>
        <p:spPr>
          <a:xfrm>
            <a:off x="4416753" y="4023359"/>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90.3</a:t>
            </a:r>
          </a:p>
        </p:txBody>
      </p:sp>
      <p:sp>
        <p:nvSpPr>
          <p:cNvPr id="26" name="TextBox 25"/>
          <p:cNvSpPr txBox="1"/>
          <p:nvPr/>
        </p:nvSpPr>
        <p:spPr>
          <a:xfrm>
            <a:off x="6139347" y="4023359"/>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92.3</a:t>
            </a:r>
          </a:p>
        </p:txBody>
      </p:sp>
      <p:sp>
        <p:nvSpPr>
          <p:cNvPr id="27" name="TextBox 26"/>
          <p:cNvSpPr txBox="1"/>
          <p:nvPr/>
        </p:nvSpPr>
        <p:spPr>
          <a:xfrm>
            <a:off x="7235543" y="4023359"/>
            <a:ext cx="1143067" cy="402336"/>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+2.0</a:t>
            </a:r>
          </a:p>
        </p:txBody>
      </p:sp>
      <p:sp>
        <p:nvSpPr>
          <p:cNvPr id="28" name="Rectangle 27"/>
          <p:cNvSpPr/>
          <p:nvPr/>
        </p:nvSpPr>
        <p:spPr>
          <a:xfrm>
            <a:off x="658368" y="4352544"/>
            <a:ext cx="7829970"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425696"/>
            <a:ext cx="2709061"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no improvement</a:t>
            </a:r>
          </a:p>
        </p:txBody>
      </p:sp>
      <p:sp>
        <p:nvSpPr>
          <p:cNvPr id="30" name="TextBox 29"/>
          <p:cNvSpPr txBox="1"/>
          <p:nvPr/>
        </p:nvSpPr>
        <p:spPr>
          <a:xfrm>
            <a:off x="3477157" y="4425696"/>
            <a:ext cx="829868"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11</a:t>
            </a:r>
          </a:p>
        </p:txBody>
      </p:sp>
      <p:sp>
        <p:nvSpPr>
          <p:cNvPr id="31" name="TextBox 30"/>
          <p:cNvSpPr txBox="1"/>
          <p:nvPr/>
        </p:nvSpPr>
        <p:spPr>
          <a:xfrm>
            <a:off x="4416753" y="4425696"/>
            <a:ext cx="1612865"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91.4</a:t>
            </a:r>
          </a:p>
        </p:txBody>
      </p:sp>
      <p:sp>
        <p:nvSpPr>
          <p:cNvPr id="32" name="TextBox 31"/>
          <p:cNvSpPr txBox="1"/>
          <p:nvPr/>
        </p:nvSpPr>
        <p:spPr>
          <a:xfrm>
            <a:off x="6139347" y="4425696"/>
            <a:ext cx="9864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93.6</a:t>
            </a:r>
          </a:p>
        </p:txBody>
      </p:sp>
      <p:sp>
        <p:nvSpPr>
          <p:cNvPr id="33" name="TextBox 32"/>
          <p:cNvSpPr txBox="1"/>
          <p:nvPr/>
        </p:nvSpPr>
        <p:spPr>
          <a:xfrm>
            <a:off x="7235543" y="4425696"/>
            <a:ext cx="1143067" cy="402336"/>
          </a:xfrm>
          <a:prstGeom prst="rect">
            <a:avLst/>
          </a:prstGeom>
          <a:noFill/>
        </p:spPr>
        <p:txBody>
          <a:bodyPr wrap="square" anchor="t" lIns="0" rIns="0" tIns="0" bIns="0">
            <a:spAutoFit/>
          </a:bodyPr>
          <a:lstStyle/>
          <a:p>
            <a:pPr algn="l">
              <a:lnSpc>
                <a:spcPct val="120000"/>
              </a:lnSpc>
              <a:spcAft>
                <a:spcPts val="0"/>
              </a:spcAft>
            </a:pPr>
            <a:r>
              <a:rPr sz="1250" b="0" i="0">
                <a:solidFill>
                  <a:srgbClr val="D02670"/>
                </a:solidFill>
                <a:latin typeface="IBM Plex Sans"/>
              </a:rPr>
              <a:t>+2.3</a:t>
            </a:r>
          </a:p>
        </p:txBody>
      </p:sp>
      <p:sp>
        <p:nvSpPr>
          <p:cNvPr id="34" name="Rectangle 33"/>
          <p:cNvSpPr/>
          <p:nvPr/>
        </p:nvSpPr>
        <p:spPr>
          <a:xfrm>
            <a:off x="8814587" y="2651760"/>
            <a:ext cx="2718739" cy="18288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034043" y="2816352"/>
            <a:ext cx="2261539" cy="1554480"/>
          </a:xfrm>
          <a:prstGeom prst="rect">
            <a:avLst/>
          </a:prstGeom>
          <a:noFill/>
        </p:spPr>
        <p:txBody>
          <a:bodyPr wrap="square" anchor="t" lIns="0" rIns="0" tIns="0" bIns="0">
            <a:spAutoFit/>
          </a:bodyPr>
          <a:lstStyle/>
          <a:p>
            <a:pPr algn="l">
              <a:lnSpc>
                <a:spcPct val="130000"/>
              </a:lnSpc>
              <a:spcAft>
                <a:spcPts val="700"/>
              </a:spcAft>
            </a:pPr>
            <a:r>
              <a:rPr sz="1250" b="1" i="0">
                <a:solidFill>
                  <a:srgbClr val="161616"/>
                </a:solidFill>
                <a:latin typeface="IBM Plex Sans"/>
              </a:rPr>
              <a:t>Where it holds a correct answer it becomes less certain. Where it abandons one, it becomes more certain.</a:t>
            </a:r>
          </a:p>
          <a:p>
            <a:pPr algn="l">
              <a:lnSpc>
                <a:spcPct val="130000"/>
              </a:lnSpc>
              <a:spcAft>
                <a:spcPts val="700"/>
              </a:spcAft>
            </a:pPr>
            <a:r>
              <a:rPr sz="1150" b="0" i="0">
                <a:solidFill>
                  <a:srgbClr val="525252"/>
                </a:solidFill>
                <a:latin typeface="IBM Plex Sans"/>
              </a:rPr>
              <a:t>Difference in mean change +5.4 points, permutation p = 2e-05, rank-biserial +0.61.</a:t>
            </a:r>
          </a:p>
        </p:txBody>
      </p:sp>
      <p:sp>
        <p:nvSpPr>
          <p:cNvPr id="36" name="TextBox 35"/>
          <p:cNvSpPr txBox="1"/>
          <p:nvPr/>
        </p:nvSpPr>
        <p:spPr>
          <a:xfrm>
            <a:off x="658368" y="4754880"/>
            <a:ext cx="10874959" cy="1097280"/>
          </a:xfrm>
          <a:prstGeom prst="rect">
            <a:avLst/>
          </a:prstGeom>
          <a:noFill/>
        </p:spPr>
        <p:txBody>
          <a:bodyPr wrap="square" anchor="t" lIns="0" rIns="0" tIns="0" bIns="0">
            <a:spAutoFit/>
          </a:bodyPr>
          <a:lstStyle/>
          <a:p>
            <a:pPr algn="l">
              <a:lnSpc>
                <a:spcPct val="134000"/>
              </a:lnSpc>
              <a:spcAft>
                <a:spcPts val="800"/>
              </a:spcAft>
            </a:pPr>
            <a:r>
              <a:rPr sz="1250" b="1" i="0">
                <a:solidFill>
                  <a:srgbClr val="161616"/>
                </a:solidFill>
                <a:latin typeface="IBM Plex Sans"/>
              </a:rPr>
              <a:t>What is degenerate, said first. </a:t>
            </a:r>
            <a:r>
              <a:rPr sz="1250" b="0" i="0">
                <a:solidFill>
                  <a:srgbClr val="525252"/>
                </a:solidFill>
                <a:latin typeface="IBM Plex Sans"/>
              </a:rPr>
              <a:t>Confidence is elicited 0 to 100 and confident was pre-registered at 80. Every observation came back at or above it, ['85', '90', '95', '98'], so the binary cannot discriminate and is not reported as a test. The continuous measure is, conditioned on the transition.</a:t>
            </a:r>
          </a:p>
          <a:p>
            <a:pPr algn="l">
              <a:lnSpc>
                <a:spcPct val="134000"/>
              </a:lnSpc>
              <a:spcAft>
                <a:spcPts val="800"/>
              </a:spcAft>
            </a:pPr>
            <a:r>
              <a:rPr sz="1250" b="0" i="0">
                <a:solidFill>
                  <a:srgbClr val="525252"/>
                </a:solidFill>
                <a:latin typeface="IBM Plex Sans"/>
              </a:rPr>
              <a:t>And the honest bound: the harmful-deference cell holds 15 exposures. A permutation test is valid at any n, but a cell that small is directional evidence for the state she named, not an effect size to quote.</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results/confidence_axis.json  ·  analysis/confidence_axis.py  ·  specification written before the pressure arm was extended, and re-run unchanged</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actually grew, and what the panel could not answer</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first three questions a clinician asks, computed by analysis/cohort_composition.py.</a:t>
            </a:r>
          </a:p>
        </p:txBody>
      </p:sp>
      <p:sp>
        <p:nvSpPr>
          <p:cNvPr id="5" name="TextBox 4"/>
          <p:cNvSpPr txBox="1"/>
          <p:nvPr/>
        </p:nvSpPr>
        <p:spPr>
          <a:xfrm>
            <a:off x="658368" y="2377440"/>
            <a:ext cx="2935260"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ORGANISM</a:t>
            </a:r>
          </a:p>
        </p:txBody>
      </p:sp>
      <p:sp>
        <p:nvSpPr>
          <p:cNvPr id="6" name="TextBox 5"/>
          <p:cNvSpPr txBox="1"/>
          <p:nvPr/>
        </p:nvSpPr>
        <p:spPr>
          <a:xfrm>
            <a:off x="3703356" y="2377440"/>
            <a:ext cx="86901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CASES</a:t>
            </a:r>
          </a:p>
        </p:txBody>
      </p:sp>
      <p:sp>
        <p:nvSpPr>
          <p:cNvPr id="7" name="TextBox 6"/>
          <p:cNvSpPr txBox="1"/>
          <p:nvPr/>
        </p:nvSpPr>
        <p:spPr>
          <a:xfrm>
            <a:off x="4682102" y="2377440"/>
            <a:ext cx="1304016"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GRAM</a:t>
            </a:r>
          </a:p>
        </p:txBody>
      </p:sp>
      <p:sp>
        <p:nvSpPr>
          <p:cNvPr id="8" name="Rectangle 7"/>
          <p:cNvSpPr/>
          <p:nvPr/>
        </p:nvSpPr>
        <p:spPr>
          <a:xfrm>
            <a:off x="658368" y="2761488"/>
            <a:ext cx="543747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944368"/>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Escherichia Coli</a:t>
            </a:r>
          </a:p>
        </p:txBody>
      </p:sp>
      <p:sp>
        <p:nvSpPr>
          <p:cNvPr id="10" name="TextBox 9"/>
          <p:cNvSpPr txBox="1"/>
          <p:nvPr/>
        </p:nvSpPr>
        <p:spPr>
          <a:xfrm>
            <a:off x="3703356" y="2944368"/>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126</a:t>
            </a:r>
          </a:p>
        </p:txBody>
      </p:sp>
      <p:sp>
        <p:nvSpPr>
          <p:cNvPr id="11" name="TextBox 10"/>
          <p:cNvSpPr txBox="1"/>
          <p:nvPr/>
        </p:nvSpPr>
        <p:spPr>
          <a:xfrm>
            <a:off x="4682102" y="2944368"/>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2" name="Rectangle 11"/>
          <p:cNvSpPr/>
          <p:nvPr/>
        </p:nvSpPr>
        <p:spPr>
          <a:xfrm>
            <a:off x="658368" y="3218688"/>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291840"/>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Pneumoniae</a:t>
            </a:r>
          </a:p>
        </p:txBody>
      </p:sp>
      <p:sp>
        <p:nvSpPr>
          <p:cNvPr id="14" name="TextBox 13"/>
          <p:cNvSpPr txBox="1"/>
          <p:nvPr/>
        </p:nvSpPr>
        <p:spPr>
          <a:xfrm>
            <a:off x="3703356" y="3291840"/>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29</a:t>
            </a:r>
          </a:p>
        </p:txBody>
      </p:sp>
      <p:sp>
        <p:nvSpPr>
          <p:cNvPr id="15" name="TextBox 14"/>
          <p:cNvSpPr txBox="1"/>
          <p:nvPr/>
        </p:nvSpPr>
        <p:spPr>
          <a:xfrm>
            <a:off x="4682102" y="3291840"/>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16" name="Rectangle 15"/>
          <p:cNvSpPr/>
          <p:nvPr/>
        </p:nvSpPr>
        <p:spPr>
          <a:xfrm>
            <a:off x="658368" y="3566160"/>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39312"/>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Serratia Marcescens</a:t>
            </a:r>
          </a:p>
        </p:txBody>
      </p:sp>
      <p:sp>
        <p:nvSpPr>
          <p:cNvPr id="18" name="TextBox 17"/>
          <p:cNvSpPr txBox="1"/>
          <p:nvPr/>
        </p:nvSpPr>
        <p:spPr>
          <a:xfrm>
            <a:off x="3703356" y="3639312"/>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14</a:t>
            </a:r>
          </a:p>
        </p:txBody>
      </p:sp>
      <p:sp>
        <p:nvSpPr>
          <p:cNvPr id="19" name="TextBox 18"/>
          <p:cNvSpPr txBox="1"/>
          <p:nvPr/>
        </p:nvSpPr>
        <p:spPr>
          <a:xfrm>
            <a:off x="4682102" y="3639312"/>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0" name="Rectangle 19"/>
          <p:cNvSpPr/>
          <p:nvPr/>
        </p:nvSpPr>
        <p:spPr>
          <a:xfrm>
            <a:off x="658368" y="3913632"/>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3986783"/>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Klebsiella Oxytoca</a:t>
            </a:r>
          </a:p>
        </p:txBody>
      </p:sp>
      <p:sp>
        <p:nvSpPr>
          <p:cNvPr id="22" name="TextBox 21"/>
          <p:cNvSpPr txBox="1"/>
          <p:nvPr/>
        </p:nvSpPr>
        <p:spPr>
          <a:xfrm>
            <a:off x="3703356" y="3986783"/>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3" name="TextBox 22"/>
          <p:cNvSpPr txBox="1"/>
          <p:nvPr/>
        </p:nvSpPr>
        <p:spPr>
          <a:xfrm>
            <a:off x="4682102" y="3986783"/>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4" name="Rectangle 23"/>
          <p:cNvSpPr/>
          <p:nvPr/>
        </p:nvSpPr>
        <p:spPr>
          <a:xfrm>
            <a:off x="658368" y="4261104"/>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334255"/>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Cloacae Complex</a:t>
            </a:r>
          </a:p>
        </p:txBody>
      </p:sp>
      <p:sp>
        <p:nvSpPr>
          <p:cNvPr id="26" name="TextBox 25"/>
          <p:cNvSpPr txBox="1"/>
          <p:nvPr/>
        </p:nvSpPr>
        <p:spPr>
          <a:xfrm>
            <a:off x="3703356" y="4334255"/>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27" name="TextBox 26"/>
          <p:cNvSpPr txBox="1"/>
          <p:nvPr/>
        </p:nvSpPr>
        <p:spPr>
          <a:xfrm>
            <a:off x="4682102" y="4334255"/>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28" name="Rectangle 27"/>
          <p:cNvSpPr/>
          <p:nvPr/>
        </p:nvSpPr>
        <p:spPr>
          <a:xfrm>
            <a:off x="658368" y="4608576"/>
            <a:ext cx="543747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4681727"/>
            <a:ext cx="2935260"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Enterobacter Aerogenes</a:t>
            </a:r>
          </a:p>
        </p:txBody>
      </p:sp>
      <p:sp>
        <p:nvSpPr>
          <p:cNvPr id="30" name="TextBox 29"/>
          <p:cNvSpPr txBox="1"/>
          <p:nvPr/>
        </p:nvSpPr>
        <p:spPr>
          <a:xfrm>
            <a:off x="3703356" y="4681727"/>
            <a:ext cx="869018"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a:t>
            </a:r>
          </a:p>
        </p:txBody>
      </p:sp>
      <p:sp>
        <p:nvSpPr>
          <p:cNvPr id="31" name="TextBox 30"/>
          <p:cNvSpPr txBox="1"/>
          <p:nvPr/>
        </p:nvSpPr>
        <p:spPr>
          <a:xfrm>
            <a:off x="4682102" y="4681727"/>
            <a:ext cx="1304016" cy="347472"/>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Gram negative</a:t>
            </a:r>
          </a:p>
        </p:txBody>
      </p:sp>
      <p:sp>
        <p:nvSpPr>
          <p:cNvPr id="32" name="TextBox 31"/>
          <p:cNvSpPr txBox="1"/>
          <p:nvPr/>
        </p:nvSpPr>
        <p:spPr>
          <a:xfrm>
            <a:off x="658368" y="4956048"/>
            <a:ext cx="5437479"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20 distinct organisms across 200 cases. Every case is Gram negative, which is a property of the frame rather than of the sample.</a:t>
            </a:r>
          </a:p>
        </p:txBody>
      </p:sp>
      <p:sp>
        <p:nvSpPr>
          <p:cNvPr id="33" name="Rectangle 32"/>
          <p:cNvSpPr/>
          <p:nvPr/>
        </p:nvSpPr>
        <p:spPr>
          <a:xfrm>
            <a:off x="6530845" y="2377440"/>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30845" y="2523744"/>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Intermediate is its own class</a:t>
            </a:r>
          </a:p>
        </p:txBody>
      </p:sp>
      <p:sp>
        <p:nvSpPr>
          <p:cNvPr id="35" name="TextBox 34"/>
          <p:cNvSpPr txBox="1"/>
          <p:nvPr/>
        </p:nvSpPr>
        <p:spPr>
          <a:xfrm>
            <a:off x="6530845" y="2852928"/>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panel returns S, I and R. 73 of 2472 verdict rows are Intermediate, 3.0%. It is neither covering nor failing: the case scores INTERMEDIATE_ONLY and leaves the adequacy numerator and the paired test rather than being folded either way.</a:t>
            </a:r>
          </a:p>
        </p:txBody>
      </p:sp>
      <p:sp>
        <p:nvSpPr>
          <p:cNvPr id="36" name="Rectangle 35"/>
          <p:cNvSpPr/>
          <p:nvPr/>
        </p:nvSpPr>
        <p:spPr>
          <a:xfrm>
            <a:off x="6530845" y="3675887"/>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30845" y="3822191"/>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Two fifths of pairs cannot be scored</a:t>
            </a:r>
          </a:p>
        </p:txBody>
      </p:sp>
      <p:sp>
        <p:nvSpPr>
          <p:cNvPr id="38" name="TextBox 37"/>
          <p:cNvSpPr txBox="1"/>
          <p:nvPr/>
        </p:nvSpPr>
        <p:spPr>
          <a:xfrm>
            <a:off x="6530845" y="4151375"/>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1380 of 3400 case-drug pairs are UNDETERMINED because the laboratory never tested that agent against at least one isolate, 40.6%. That is what the laboratory chose to test, not a property of the model, and it is the largest constraint on this design.</a:t>
            </a:r>
          </a:p>
        </p:txBody>
      </p:sp>
      <p:sp>
        <p:nvSpPr>
          <p:cNvPr id="39" name="Rectangle 38"/>
          <p:cNvSpPr/>
          <p:nvPr/>
        </p:nvSpPr>
        <p:spPr>
          <a:xfrm>
            <a:off x="6530845" y="4974336"/>
            <a:ext cx="5002481" cy="16459"/>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30845" y="5120640"/>
            <a:ext cx="5002481" cy="32004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The ceiling, so the baseline reads against something</a:t>
            </a:r>
          </a:p>
        </p:txBody>
      </p:sp>
      <p:sp>
        <p:nvSpPr>
          <p:cNvPr id="41" name="TextBox 40"/>
          <p:cNvSpPr txBox="1"/>
          <p:nvPr/>
        </p:nvSpPr>
        <p:spPr>
          <a:xfrm>
            <a:off x="6530845" y="5449823"/>
            <a:ext cx="5002481" cy="82296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Perfect per-patient choice from the formulary reaches 199 of 200 = 99.5%. The 87.5% baseline is not near a ceiling: about twelve points of headroom existed and were not taken.</a:t>
            </a:r>
          </a:p>
        </p:txBody>
      </p:sp>
      <p:sp>
        <p:nvSpPr>
          <p:cNvPr id="42" name="Rectangle 4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results/cohort_composition.json  ·  analysis/cohort_composition.py  ·  aggregates only, no case-level rows leave the machine</a:t>
            </a:r>
          </a:p>
        </p:txBody>
      </p:sp>
      <p:sp>
        <p:nvSpPr>
          <p:cNvPr id="44" name="TextBox 4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WHAT ACTUALLY DOES THE DAMAGE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framing of the challenge is not what costs coverage. Duration is.</a:t>
            </a:r>
          </a:p>
        </p:txBody>
      </p:sp>
      <p:sp>
        <p:nvSpPr>
          <p:cNvPr id="4" name="TextBox 3"/>
          <p:cNvSpPr txBox="1"/>
          <p:nvPr/>
        </p:nvSpPr>
        <p:spPr>
          <a:xfrm>
            <a:off x="658368" y="2084831"/>
            <a:ext cx="3587758"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WHAT MADE IT RECONSIDER</a:t>
            </a:r>
          </a:p>
        </p:txBody>
      </p:sp>
      <p:sp>
        <p:nvSpPr>
          <p:cNvPr id="5" name="TextBox 4"/>
          <p:cNvSpPr txBox="1"/>
          <p:nvPr/>
        </p:nvSpPr>
        <p:spPr>
          <a:xfrm>
            <a:off x="4355854" y="2084831"/>
            <a:ext cx="977767"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TURNS</a:t>
            </a:r>
          </a:p>
        </p:txBody>
      </p:sp>
      <p:sp>
        <p:nvSpPr>
          <p:cNvPr id="6" name="TextBox 5"/>
          <p:cNvSpPr txBox="1"/>
          <p:nvPr/>
        </p:nvSpPr>
        <p:spPr>
          <a:xfrm>
            <a:off x="5443350" y="2084831"/>
            <a:ext cx="1956514"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HARMFUL REVISION</a:t>
            </a:r>
          </a:p>
        </p:txBody>
      </p:sp>
      <p:sp>
        <p:nvSpPr>
          <p:cNvPr id="7" name="TextBox 6"/>
          <p:cNvSpPr txBox="1"/>
          <p:nvPr/>
        </p:nvSpPr>
        <p:spPr>
          <a:xfrm>
            <a:off x="7509592" y="2084831"/>
            <a:ext cx="2174013"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CORRECTED AN ERROR</a:t>
            </a:r>
          </a:p>
        </p:txBody>
      </p:sp>
      <p:sp>
        <p:nvSpPr>
          <p:cNvPr id="8" name="TextBox 7"/>
          <p:cNvSpPr txBox="1"/>
          <p:nvPr/>
        </p:nvSpPr>
        <p:spPr>
          <a:xfrm>
            <a:off x="9793333" y="2084831"/>
            <a:ext cx="1630265" cy="384048"/>
          </a:xfrm>
          <a:prstGeom prst="rect">
            <a:avLst/>
          </a:prstGeom>
          <a:noFill/>
        </p:spPr>
        <p:txBody>
          <a:bodyPr wrap="square" anchor="t" lIns="0" rIns="0" tIns="0" bIns="0">
            <a:spAutoFit/>
          </a:bodyPr>
          <a:lstStyle/>
          <a:p>
            <a:pPr algn="l">
              <a:lnSpc>
                <a:spcPct val="115000"/>
              </a:lnSpc>
              <a:spcAft>
                <a:spcPts val="0"/>
              </a:spcAft>
            </a:pPr>
            <a:r>
              <a:rPr sz="1000" b="1" i="0" spc="90">
                <a:solidFill>
                  <a:srgbClr val="525252"/>
                </a:solidFill>
                <a:latin typeface="IBM Plex Sans"/>
              </a:rPr>
              <a:t>DRUGS STILL IN PLAY</a:t>
            </a:r>
          </a:p>
        </p:txBody>
      </p:sp>
      <p:sp>
        <p:nvSpPr>
          <p:cNvPr id="9" name="Rectangle 8"/>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265176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nothing, a neutral re-ask</a:t>
            </a:r>
          </a:p>
        </p:txBody>
      </p:sp>
      <p:sp>
        <p:nvSpPr>
          <p:cNvPr id="11" name="TextBox 10"/>
          <p:cNvSpPr txBox="1"/>
          <p:nvPr/>
        </p:nvSpPr>
        <p:spPr>
          <a:xfrm>
            <a:off x="4355854" y="265176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2" name="TextBox 11"/>
          <p:cNvSpPr txBox="1"/>
          <p:nvPr/>
        </p:nvSpPr>
        <p:spPr>
          <a:xfrm>
            <a:off x="5443350" y="265176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3" name="TextBox 12"/>
          <p:cNvSpPr txBox="1"/>
          <p:nvPr/>
        </p:nvSpPr>
        <p:spPr>
          <a:xfrm>
            <a:off x="7509592" y="265176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0%</a:t>
            </a:r>
          </a:p>
        </p:txBody>
      </p:sp>
      <p:sp>
        <p:nvSpPr>
          <p:cNvPr id="14" name="TextBox 13"/>
          <p:cNvSpPr txBox="1"/>
          <p:nvPr/>
        </p:nvSpPr>
        <p:spPr>
          <a:xfrm>
            <a:off x="9793333" y="265176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a:t>
            </a:r>
          </a:p>
        </p:txBody>
      </p:sp>
      <p:sp>
        <p:nvSpPr>
          <p:cNvPr id="15" name="Rectangle 14"/>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01752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authority</a:t>
            </a:r>
          </a:p>
        </p:txBody>
      </p:sp>
      <p:sp>
        <p:nvSpPr>
          <p:cNvPr id="17" name="TextBox 16"/>
          <p:cNvSpPr txBox="1"/>
          <p:nvPr/>
        </p:nvSpPr>
        <p:spPr>
          <a:xfrm>
            <a:off x="4355854" y="301752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18" name="TextBox 17"/>
          <p:cNvSpPr txBox="1"/>
          <p:nvPr/>
        </p:nvSpPr>
        <p:spPr>
          <a:xfrm>
            <a:off x="5443350" y="301752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2.3%</a:t>
            </a:r>
          </a:p>
        </p:txBody>
      </p:sp>
      <p:sp>
        <p:nvSpPr>
          <p:cNvPr id="19" name="TextBox 18"/>
          <p:cNvSpPr txBox="1"/>
          <p:nvPr/>
        </p:nvSpPr>
        <p:spPr>
          <a:xfrm>
            <a:off x="7509592" y="301752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0" name="TextBox 19"/>
          <p:cNvSpPr txBox="1"/>
          <p:nvPr/>
        </p:nvSpPr>
        <p:spPr>
          <a:xfrm>
            <a:off x="9793333" y="301752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5</a:t>
            </a:r>
          </a:p>
        </p:txBody>
      </p:sp>
      <p:sp>
        <p:nvSpPr>
          <p:cNvPr id="21" name="Rectangle 20"/>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338327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peer consensus</a:t>
            </a:r>
          </a:p>
        </p:txBody>
      </p:sp>
      <p:sp>
        <p:nvSpPr>
          <p:cNvPr id="23" name="TextBox 22"/>
          <p:cNvSpPr txBox="1"/>
          <p:nvPr/>
        </p:nvSpPr>
        <p:spPr>
          <a:xfrm>
            <a:off x="4355854" y="338327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24" name="TextBox 23"/>
          <p:cNvSpPr txBox="1"/>
          <p:nvPr/>
        </p:nvSpPr>
        <p:spPr>
          <a:xfrm>
            <a:off x="5443350" y="338327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1.1%</a:t>
            </a:r>
          </a:p>
        </p:txBody>
      </p:sp>
      <p:sp>
        <p:nvSpPr>
          <p:cNvPr id="25" name="TextBox 24"/>
          <p:cNvSpPr txBox="1"/>
          <p:nvPr/>
        </p:nvSpPr>
        <p:spPr>
          <a:xfrm>
            <a:off x="7509592" y="338327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81.8%</a:t>
            </a:r>
          </a:p>
        </p:txBody>
      </p:sp>
      <p:sp>
        <p:nvSpPr>
          <p:cNvPr id="26" name="TextBox 25"/>
          <p:cNvSpPr txBox="1"/>
          <p:nvPr/>
        </p:nvSpPr>
        <p:spPr>
          <a:xfrm>
            <a:off x="9793333" y="338327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4</a:t>
            </a:r>
          </a:p>
        </p:txBody>
      </p:sp>
      <p:sp>
        <p:nvSpPr>
          <p:cNvPr id="27" name="Rectangle 26"/>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3749039"/>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safety framing</a:t>
            </a:r>
          </a:p>
        </p:txBody>
      </p:sp>
      <p:sp>
        <p:nvSpPr>
          <p:cNvPr id="29" name="TextBox 28"/>
          <p:cNvSpPr txBox="1"/>
          <p:nvPr/>
        </p:nvSpPr>
        <p:spPr>
          <a:xfrm>
            <a:off x="4355854" y="3749039"/>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0" name="TextBox 29"/>
          <p:cNvSpPr txBox="1"/>
          <p:nvPr/>
        </p:nvSpPr>
        <p:spPr>
          <a:xfrm>
            <a:off x="5443350" y="3749039"/>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3.5%</a:t>
            </a:r>
          </a:p>
        </p:txBody>
      </p:sp>
      <p:sp>
        <p:nvSpPr>
          <p:cNvPr id="31" name="TextBox 30"/>
          <p:cNvSpPr txBox="1"/>
          <p:nvPr/>
        </p:nvSpPr>
        <p:spPr>
          <a:xfrm>
            <a:off x="7509592" y="3749039"/>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72.7%</a:t>
            </a:r>
          </a:p>
        </p:txBody>
      </p:sp>
      <p:sp>
        <p:nvSpPr>
          <p:cNvPr id="32" name="TextBox 31"/>
          <p:cNvSpPr txBox="1"/>
          <p:nvPr/>
        </p:nvSpPr>
        <p:spPr>
          <a:xfrm>
            <a:off x="9793333" y="3749039"/>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3" name="Rectangle 32"/>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8368" y="4114800"/>
            <a:ext cx="3587758"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bare doubt</a:t>
            </a:r>
          </a:p>
        </p:txBody>
      </p:sp>
      <p:sp>
        <p:nvSpPr>
          <p:cNvPr id="35" name="TextBox 34"/>
          <p:cNvSpPr txBox="1"/>
          <p:nvPr/>
        </p:nvSpPr>
        <p:spPr>
          <a:xfrm>
            <a:off x="4355854" y="4114800"/>
            <a:ext cx="977767"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one</a:t>
            </a:r>
          </a:p>
        </p:txBody>
      </p:sp>
      <p:sp>
        <p:nvSpPr>
          <p:cNvPr id="36" name="TextBox 35"/>
          <p:cNvSpPr txBox="1"/>
          <p:nvPr/>
        </p:nvSpPr>
        <p:spPr>
          <a:xfrm>
            <a:off x="5443350" y="4114800"/>
            <a:ext cx="1956514"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1.7%</a:t>
            </a:r>
          </a:p>
        </p:txBody>
      </p:sp>
      <p:sp>
        <p:nvSpPr>
          <p:cNvPr id="37" name="TextBox 36"/>
          <p:cNvSpPr txBox="1"/>
          <p:nvPr/>
        </p:nvSpPr>
        <p:spPr>
          <a:xfrm>
            <a:off x="7509592" y="4114800"/>
            <a:ext cx="2174013"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66.7%</a:t>
            </a:r>
          </a:p>
        </p:txBody>
      </p:sp>
      <p:sp>
        <p:nvSpPr>
          <p:cNvPr id="38" name="TextBox 37"/>
          <p:cNvSpPr txBox="1"/>
          <p:nvPr/>
        </p:nvSpPr>
        <p:spPr>
          <a:xfrm>
            <a:off x="9793333" y="4114800"/>
            <a:ext cx="1630265" cy="365760"/>
          </a:xfrm>
          <a:prstGeom prst="rect">
            <a:avLst/>
          </a:prstGeom>
          <a:noFill/>
        </p:spPr>
        <p:txBody>
          <a:bodyPr wrap="square" anchor="t" lIns="0" rIns="0" tIns="0" bIns="0">
            <a:spAutoFit/>
          </a:bodyPr>
          <a:lstStyle/>
          <a:p>
            <a:pPr algn="l">
              <a:lnSpc>
                <a:spcPct val="120000"/>
              </a:lnSpc>
              <a:spcAft>
                <a:spcPts val="0"/>
              </a:spcAft>
            </a:pPr>
            <a:r>
              <a:rPr sz="1200" b="0" i="0">
                <a:solidFill>
                  <a:srgbClr val="161616"/>
                </a:solidFill>
                <a:latin typeface="IBM Plex Sans"/>
              </a:rPr>
              <a:t>3</a:t>
            </a:r>
          </a:p>
        </p:txBody>
      </p:sp>
      <p:sp>
        <p:nvSpPr>
          <p:cNvPr id="39" name="Rectangle 38"/>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58368" y="448056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the susceptibility panel</a:t>
            </a:r>
          </a:p>
        </p:txBody>
      </p:sp>
      <p:sp>
        <p:nvSpPr>
          <p:cNvPr id="41" name="TextBox 40"/>
          <p:cNvSpPr txBox="1"/>
          <p:nvPr/>
        </p:nvSpPr>
        <p:spPr>
          <a:xfrm>
            <a:off x="4355854" y="448056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one</a:t>
            </a:r>
          </a:p>
        </p:txBody>
      </p:sp>
      <p:sp>
        <p:nvSpPr>
          <p:cNvPr id="42" name="TextBox 41"/>
          <p:cNvSpPr txBox="1"/>
          <p:nvPr/>
        </p:nvSpPr>
        <p:spPr>
          <a:xfrm>
            <a:off x="5443350" y="448056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1.1%</a:t>
            </a:r>
          </a:p>
        </p:txBody>
      </p:sp>
      <p:sp>
        <p:nvSpPr>
          <p:cNvPr id="43" name="TextBox 42"/>
          <p:cNvSpPr txBox="1"/>
          <p:nvPr/>
        </p:nvSpPr>
        <p:spPr>
          <a:xfrm>
            <a:off x="7509592" y="448056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91.7%</a:t>
            </a:r>
          </a:p>
        </p:txBody>
      </p:sp>
      <p:sp>
        <p:nvSpPr>
          <p:cNvPr id="44" name="TextBox 43"/>
          <p:cNvSpPr txBox="1"/>
          <p:nvPr/>
        </p:nvSpPr>
        <p:spPr>
          <a:xfrm>
            <a:off x="9793333" y="448056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0F62FE"/>
                </a:solidFill>
                <a:latin typeface="IBM Plex Sans"/>
              </a:rPr>
              <a:t>8</a:t>
            </a:r>
          </a:p>
        </p:txBody>
      </p:sp>
      <p:sp>
        <p:nvSpPr>
          <p:cNvPr id="45" name="Rectangle 4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58368" y="4846320"/>
            <a:ext cx="3587758"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a second agent arguing</a:t>
            </a:r>
          </a:p>
        </p:txBody>
      </p:sp>
      <p:sp>
        <p:nvSpPr>
          <p:cNvPr id="47" name="TextBox 46"/>
          <p:cNvSpPr txBox="1"/>
          <p:nvPr/>
        </p:nvSpPr>
        <p:spPr>
          <a:xfrm>
            <a:off x="4355854" y="4846320"/>
            <a:ext cx="977767" cy="365760"/>
          </a:xfrm>
          <a:prstGeom prst="rect">
            <a:avLst/>
          </a:prstGeom>
          <a:noFill/>
        </p:spPr>
        <p:txBody>
          <a:bodyPr wrap="square" anchor="t" lIns="0" rIns="0" tIns="0" bIns="0">
            <a:spAutoFit/>
          </a:bodyPr>
          <a:lstStyle/>
          <a:p>
            <a:pPr algn="l">
              <a:lnSpc>
                <a:spcPct val="120000"/>
              </a:lnSpc>
              <a:spcAft>
                <a:spcPts val="0"/>
              </a:spcAft>
            </a:pPr>
            <a:r>
              <a:rPr sz="1200" b="1" i="0">
                <a:solidFill>
                  <a:srgbClr val="161616"/>
                </a:solidFill>
                <a:latin typeface="IBM Plex Sans"/>
              </a:rPr>
              <a:t>five</a:t>
            </a:r>
          </a:p>
        </p:txBody>
      </p:sp>
      <p:sp>
        <p:nvSpPr>
          <p:cNvPr id="48" name="TextBox 47"/>
          <p:cNvSpPr txBox="1"/>
          <p:nvPr/>
        </p:nvSpPr>
        <p:spPr>
          <a:xfrm>
            <a:off x="5443350" y="4846320"/>
            <a:ext cx="1956514"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15.2%</a:t>
            </a:r>
          </a:p>
        </p:txBody>
      </p:sp>
      <p:sp>
        <p:nvSpPr>
          <p:cNvPr id="49" name="TextBox 48"/>
          <p:cNvSpPr txBox="1"/>
          <p:nvPr/>
        </p:nvSpPr>
        <p:spPr>
          <a:xfrm>
            <a:off x="7509592" y="4846320"/>
            <a:ext cx="2174013"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59.1%</a:t>
            </a:r>
          </a:p>
        </p:txBody>
      </p:sp>
      <p:sp>
        <p:nvSpPr>
          <p:cNvPr id="50" name="TextBox 49"/>
          <p:cNvSpPr txBox="1"/>
          <p:nvPr/>
        </p:nvSpPr>
        <p:spPr>
          <a:xfrm>
            <a:off x="9793333" y="4846320"/>
            <a:ext cx="1630265" cy="365760"/>
          </a:xfrm>
          <a:prstGeom prst="rect">
            <a:avLst/>
          </a:prstGeom>
          <a:noFill/>
        </p:spPr>
        <p:txBody>
          <a:bodyPr wrap="square" anchor="t" lIns="0" rIns="0" tIns="0" bIns="0">
            <a:spAutoFit/>
          </a:bodyPr>
          <a:lstStyle/>
          <a:p>
            <a:pPr algn="l">
              <a:lnSpc>
                <a:spcPct val="120000"/>
              </a:lnSpc>
              <a:spcAft>
                <a:spcPts val="0"/>
              </a:spcAft>
            </a:pPr>
            <a:r>
              <a:rPr sz="1200" b="1" i="0">
                <a:solidFill>
                  <a:srgbClr val="D02670"/>
                </a:solidFill>
                <a:latin typeface="IBM Plex Sans"/>
              </a:rPr>
              <a:t>3</a:t>
            </a:r>
          </a:p>
        </p:txBody>
      </p:sp>
      <p:sp>
        <p:nvSpPr>
          <p:cNvPr id="51" name="TextBox 50"/>
          <p:cNvSpPr txBox="1"/>
          <p:nvPr/>
        </p:nvSpPr>
        <p:spPr>
          <a:xfrm>
            <a:off x="658368" y="5138928"/>
            <a:ext cx="10874959"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row starts from the same round-0 position on the same frozen cohort and applies one reconsideration step. The panel-reveal arm is not in this table: it reveals the result after the debate has already moved the position, and its records carry the debate's own final drug on all 400 runs.</a:t>
            </a:r>
          </a:p>
        </p:txBody>
      </p:sp>
      <p:sp>
        <p:nvSpPr>
          <p:cNvPr id="52" name="Rectangle 5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results/trigger_comparison.json  ·  analysis/trigger_comparison.py</a:t>
            </a:r>
          </a:p>
        </p:txBody>
      </p:sp>
      <p:sp>
        <p:nvSpPr>
          <p:cNvPr id="54" name="TextBox 5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CONTROL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Asked three times with nothing disagreeing, it keeps its answer.</a:t>
            </a:r>
          </a:p>
        </p:txBody>
      </p:sp>
      <p:sp>
        <p:nvSpPr>
          <p:cNvPr id="4" name="TextBox 3"/>
          <p:cNvSpPr txBox="1"/>
          <p:nvPr/>
        </p:nvSpPr>
        <p:spPr>
          <a:xfrm>
            <a:off x="658368" y="2194560"/>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
            </a:r>
          </a:p>
        </p:txBody>
      </p:sp>
      <p:sp>
        <p:nvSpPr>
          <p:cNvPr id="5" name="TextBox 4"/>
          <p:cNvSpPr txBox="1"/>
          <p:nvPr/>
        </p:nvSpPr>
        <p:spPr>
          <a:xfrm>
            <a:off x="4355854"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FIVE TURNS, A COUNTERPART ARGUING</a:t>
            </a:r>
          </a:p>
        </p:txBody>
      </p:sp>
      <p:sp>
        <p:nvSpPr>
          <p:cNvPr id="6" name="TextBox 5"/>
          <p:cNvSpPr txBox="1"/>
          <p:nvPr/>
        </p:nvSpPr>
        <p:spPr>
          <a:xfrm>
            <a:off x="7944590" y="2194560"/>
            <a:ext cx="347900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THREE TURNS, ONLY ITS OWN TEXT</a:t>
            </a:r>
          </a:p>
        </p:txBody>
      </p:sp>
      <p:sp>
        <p:nvSpPr>
          <p:cNvPr id="7" name="Rectangle 6"/>
          <p:cNvSpPr/>
          <p:nvPr/>
        </p:nvSpPr>
        <p:spPr>
          <a:xfrm>
            <a:off x="658368" y="257860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761488"/>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changed its opening drug</a:t>
            </a:r>
          </a:p>
        </p:txBody>
      </p:sp>
      <p:sp>
        <p:nvSpPr>
          <p:cNvPr id="9" name="TextBox 8"/>
          <p:cNvSpPr txBox="1"/>
          <p:nvPr/>
        </p:nvSpPr>
        <p:spPr>
          <a:xfrm>
            <a:off x="4355854"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200 of 200</a:t>
            </a:r>
          </a:p>
        </p:txBody>
      </p:sp>
      <p:sp>
        <p:nvSpPr>
          <p:cNvPr id="10" name="TextBox 9"/>
          <p:cNvSpPr txBox="1"/>
          <p:nvPr/>
        </p:nvSpPr>
        <p:spPr>
          <a:xfrm>
            <a:off x="7944590" y="2761488"/>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6 of 200</a:t>
            </a:r>
          </a:p>
        </p:txBody>
      </p:sp>
      <p:sp>
        <p:nvSpPr>
          <p:cNvPr id="11" name="Rectangle 10"/>
          <p:cNvSpPr/>
          <p:nvPr/>
        </p:nvSpPr>
        <p:spPr>
          <a:xfrm>
            <a:off x="658368" y="310896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182112"/>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final recommendation adequate</a:t>
            </a:r>
          </a:p>
        </p:txBody>
      </p:sp>
      <p:sp>
        <p:nvSpPr>
          <p:cNvPr id="13" name="TextBox 12"/>
          <p:cNvSpPr txBox="1"/>
          <p:nvPr/>
        </p:nvSpPr>
        <p:spPr>
          <a:xfrm>
            <a:off x="4355854"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D02670"/>
                </a:solidFill>
                <a:latin typeface="IBM Plex Sans"/>
              </a:rPr>
              <a:t>77%</a:t>
            </a:r>
          </a:p>
        </p:txBody>
      </p:sp>
      <p:sp>
        <p:nvSpPr>
          <p:cNvPr id="14" name="TextBox 13"/>
          <p:cNvSpPr txBox="1"/>
          <p:nvPr/>
        </p:nvSpPr>
        <p:spPr>
          <a:xfrm>
            <a:off x="7944590" y="3182112"/>
            <a:ext cx="3479008" cy="420624"/>
          </a:xfrm>
          <a:prstGeom prst="rect">
            <a:avLst/>
          </a:prstGeom>
          <a:noFill/>
        </p:spPr>
        <p:txBody>
          <a:bodyPr wrap="square" anchor="t" lIns="0" rIns="0" tIns="0" bIns="0">
            <a:spAutoFit/>
          </a:bodyPr>
          <a:lstStyle/>
          <a:p>
            <a:pPr algn="l">
              <a:lnSpc>
                <a:spcPct val="120000"/>
              </a:lnSpc>
              <a:spcAft>
                <a:spcPts val="0"/>
              </a:spcAft>
            </a:pPr>
            <a:r>
              <a:rPr sz="1350" b="0" i="0">
                <a:solidFill>
                  <a:srgbClr val="0F62FE"/>
                </a:solidFill>
                <a:latin typeface="IBM Plex Sans"/>
              </a:rPr>
              <a:t>87%</a:t>
            </a:r>
          </a:p>
        </p:txBody>
      </p:sp>
      <p:sp>
        <p:nvSpPr>
          <p:cNvPr id="15" name="Rectangle 14"/>
          <p:cNvSpPr/>
          <p:nvPr/>
        </p:nvSpPr>
        <p:spPr>
          <a:xfrm>
            <a:off x="658368" y="3529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602736"/>
            <a:ext cx="3587758" cy="420624"/>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harmful revision</a:t>
            </a:r>
          </a:p>
        </p:txBody>
      </p:sp>
      <p:sp>
        <p:nvSpPr>
          <p:cNvPr id="17" name="TextBox 16"/>
          <p:cNvSpPr txBox="1"/>
          <p:nvPr/>
        </p:nvSpPr>
        <p:spPr>
          <a:xfrm>
            <a:off x="4355854"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D02670"/>
                </a:solidFill>
                <a:latin typeface="IBM Plex Sans"/>
              </a:rPr>
              <a:t>17%</a:t>
            </a:r>
          </a:p>
        </p:txBody>
      </p:sp>
      <p:sp>
        <p:nvSpPr>
          <p:cNvPr id="18" name="TextBox 17"/>
          <p:cNvSpPr txBox="1"/>
          <p:nvPr/>
        </p:nvSpPr>
        <p:spPr>
          <a:xfrm>
            <a:off x="7944590" y="3602736"/>
            <a:ext cx="3479008" cy="420624"/>
          </a:xfrm>
          <a:prstGeom prst="rect">
            <a:avLst/>
          </a:prstGeom>
          <a:noFill/>
        </p:spPr>
        <p:txBody>
          <a:bodyPr wrap="square" anchor="t" lIns="0" rIns="0" tIns="0" bIns="0">
            <a:spAutoFit/>
          </a:bodyPr>
          <a:lstStyle/>
          <a:p>
            <a:pPr algn="l">
              <a:lnSpc>
                <a:spcPct val="120000"/>
              </a:lnSpc>
              <a:spcAft>
                <a:spcPts val="0"/>
              </a:spcAft>
            </a:pPr>
            <a:r>
              <a:rPr sz="1350" b="1" i="0">
                <a:solidFill>
                  <a:srgbClr val="0F62FE"/>
                </a:solidFill>
                <a:latin typeface="IBM Plex Sans"/>
              </a:rPr>
              <a:t>0.6%</a:t>
            </a:r>
          </a:p>
        </p:txBody>
      </p:sp>
      <p:sp>
        <p:nvSpPr>
          <p:cNvPr id="19" name="TextBox 18"/>
          <p:cNvSpPr txBox="1"/>
          <p:nvPr/>
        </p:nvSpPr>
        <p:spPr>
          <a:xfrm>
            <a:off x="658368" y="4114800"/>
            <a:ext cx="10874959" cy="1188720"/>
          </a:xfrm>
          <a:prstGeom prst="rect">
            <a:avLst/>
          </a:prstGeom>
          <a:noFill/>
        </p:spPr>
        <p:txBody>
          <a:bodyPr wrap="square" anchor="t" lIns="0" rIns="0" tIns="0" bIns="0">
            <a:spAutoFit/>
          </a:bodyPr>
          <a:lstStyle/>
          <a:p>
            <a:pPr algn="l">
              <a:lnSpc>
                <a:spcPct val="134000"/>
              </a:lnSpc>
              <a:spcAft>
                <a:spcPts val="0"/>
              </a:spcAft>
            </a:pPr>
            <a:r>
              <a:rPr sz="1250" b="0" i="0">
                <a:solidFill>
                  <a:srgbClr val="161616"/>
                </a:solidFill>
                <a:latin typeface="IBM Plex Sans"/>
              </a:rPr>
              <a:t>Same agent, same 200 cases, same opening prompt, same formulary, same gate, same scorer. Paired within patient, the debate ends on an inadequate drug where the control ends on an adequate one in 28 pairs and the reverse in 0. Exact McNemar p = 7.45e-09.</a:t>
            </a:r>
          </a:p>
        </p:txBody>
      </p:sp>
      <p:sp>
        <p:nvSpPr>
          <p:cNvPr id="20" name="TextBox 19"/>
          <p:cNvSpPr txBox="1"/>
          <p:nvPr/>
        </p:nvSpPr>
        <p:spPr>
          <a:xfrm>
            <a:off x="658368" y="5230368"/>
            <a:ext cx="10874959" cy="91440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The 6 runs it did change are the same de-escalation the debate drives, and 5 keep their coverage while 1 does not. This is a claim about rate, not about the model never erring alone. It does not hold context length or the revision instruction constant.</a:t>
            </a:r>
          </a:p>
        </p:txBody>
      </p:sp>
      <p:sp>
        <p:nvSpPr>
          <p:cNvPr id="21" name="Rectangle 20"/>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results/selfrevision_control.json  ·  analysis/selfrevision_control.py  ·  selfrevise_run.py</a:t>
            </a:r>
          </a:p>
        </p:txBody>
      </p:sp>
      <p:sp>
        <p:nvSpPr>
          <p:cNvPr id="23" name="TextBox 22"/>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