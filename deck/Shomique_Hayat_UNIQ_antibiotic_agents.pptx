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80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80.</a:t>
            </a:r>
          </a:p>
          <a:p>
            <a:r>
              <a:t>Coverage is 88.8 per cent against 76.2, and harmful revision is 0 per cent against 14.7.</a:t>
            </a:r>
          </a:p>
          <a:p>
            <a:r>
              <a:t>Paired within patient, exact McNemar p = 0.00195.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80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148840"/>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148840"/>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148840"/>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148840"/>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148840"/>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53288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15768"/>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authority</a:t>
            </a:r>
          </a:p>
        </p:txBody>
      </p:sp>
      <p:sp>
        <p:nvSpPr>
          <p:cNvPr id="11" name="TextBox 10"/>
          <p:cNvSpPr txBox="1"/>
          <p:nvPr/>
        </p:nvSpPr>
        <p:spPr>
          <a:xfrm>
            <a:off x="4355854" y="2715768"/>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2" name="TextBox 11"/>
          <p:cNvSpPr txBox="1"/>
          <p:nvPr/>
        </p:nvSpPr>
        <p:spPr>
          <a:xfrm>
            <a:off x="5443350" y="2715768"/>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2.3%</a:t>
            </a:r>
          </a:p>
        </p:txBody>
      </p:sp>
      <p:sp>
        <p:nvSpPr>
          <p:cNvPr id="13" name="TextBox 12"/>
          <p:cNvSpPr txBox="1"/>
          <p:nvPr/>
        </p:nvSpPr>
        <p:spPr>
          <a:xfrm>
            <a:off x="7509592" y="2715768"/>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14" name="TextBox 13"/>
          <p:cNvSpPr txBox="1"/>
          <p:nvPr/>
        </p:nvSpPr>
        <p:spPr>
          <a:xfrm>
            <a:off x="9793333" y="2715768"/>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a:t>
            </a:r>
          </a:p>
        </p:txBody>
      </p:sp>
      <p:sp>
        <p:nvSpPr>
          <p:cNvPr id="15" name="Rectangle 14"/>
          <p:cNvSpPr/>
          <p:nvPr/>
        </p:nvSpPr>
        <p:spPr>
          <a:xfrm>
            <a:off x="658368" y="302666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99816"/>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peer consensus</a:t>
            </a:r>
          </a:p>
        </p:txBody>
      </p:sp>
      <p:sp>
        <p:nvSpPr>
          <p:cNvPr id="17" name="TextBox 16"/>
          <p:cNvSpPr txBox="1"/>
          <p:nvPr/>
        </p:nvSpPr>
        <p:spPr>
          <a:xfrm>
            <a:off x="4355854" y="3099816"/>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8" name="TextBox 17"/>
          <p:cNvSpPr txBox="1"/>
          <p:nvPr/>
        </p:nvSpPr>
        <p:spPr>
          <a:xfrm>
            <a:off x="5443350" y="3099816"/>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19" name="TextBox 18"/>
          <p:cNvSpPr txBox="1"/>
          <p:nvPr/>
        </p:nvSpPr>
        <p:spPr>
          <a:xfrm>
            <a:off x="7509592" y="3099816"/>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20" name="TextBox 19"/>
          <p:cNvSpPr txBox="1"/>
          <p:nvPr/>
        </p:nvSpPr>
        <p:spPr>
          <a:xfrm>
            <a:off x="9793333" y="3099816"/>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a:t>
            </a:r>
          </a:p>
        </p:txBody>
      </p:sp>
      <p:sp>
        <p:nvSpPr>
          <p:cNvPr id="21" name="Rectangle 20"/>
          <p:cNvSpPr/>
          <p:nvPr/>
        </p:nvSpPr>
        <p:spPr>
          <a:xfrm>
            <a:off x="658368" y="341071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483864"/>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safety framing</a:t>
            </a:r>
          </a:p>
        </p:txBody>
      </p:sp>
      <p:sp>
        <p:nvSpPr>
          <p:cNvPr id="23" name="TextBox 22"/>
          <p:cNvSpPr txBox="1"/>
          <p:nvPr/>
        </p:nvSpPr>
        <p:spPr>
          <a:xfrm>
            <a:off x="4355854" y="3483864"/>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24" name="TextBox 23"/>
          <p:cNvSpPr txBox="1"/>
          <p:nvPr/>
        </p:nvSpPr>
        <p:spPr>
          <a:xfrm>
            <a:off x="5443350" y="3483864"/>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3.5%</a:t>
            </a:r>
          </a:p>
        </p:txBody>
      </p:sp>
      <p:sp>
        <p:nvSpPr>
          <p:cNvPr id="25" name="TextBox 24"/>
          <p:cNvSpPr txBox="1"/>
          <p:nvPr/>
        </p:nvSpPr>
        <p:spPr>
          <a:xfrm>
            <a:off x="7509592" y="3483864"/>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72.7%</a:t>
            </a:r>
          </a:p>
        </p:txBody>
      </p:sp>
      <p:sp>
        <p:nvSpPr>
          <p:cNvPr id="26" name="TextBox 25"/>
          <p:cNvSpPr txBox="1"/>
          <p:nvPr/>
        </p:nvSpPr>
        <p:spPr>
          <a:xfrm>
            <a:off x="9793333" y="3483864"/>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27" name="Rectangle 26"/>
          <p:cNvSpPr/>
          <p:nvPr/>
        </p:nvSpPr>
        <p:spPr>
          <a:xfrm>
            <a:off x="658368" y="37947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867911"/>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bare doubt</a:t>
            </a:r>
          </a:p>
        </p:txBody>
      </p:sp>
      <p:sp>
        <p:nvSpPr>
          <p:cNvPr id="29" name="TextBox 28"/>
          <p:cNvSpPr txBox="1"/>
          <p:nvPr/>
        </p:nvSpPr>
        <p:spPr>
          <a:xfrm>
            <a:off x="4355854" y="3867911"/>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30" name="TextBox 29"/>
          <p:cNvSpPr txBox="1"/>
          <p:nvPr/>
        </p:nvSpPr>
        <p:spPr>
          <a:xfrm>
            <a:off x="5443350" y="3867911"/>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1.7%</a:t>
            </a:r>
          </a:p>
        </p:txBody>
      </p:sp>
      <p:sp>
        <p:nvSpPr>
          <p:cNvPr id="31" name="TextBox 30"/>
          <p:cNvSpPr txBox="1"/>
          <p:nvPr/>
        </p:nvSpPr>
        <p:spPr>
          <a:xfrm>
            <a:off x="7509592" y="3867911"/>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66.7%</a:t>
            </a:r>
          </a:p>
        </p:txBody>
      </p:sp>
      <p:sp>
        <p:nvSpPr>
          <p:cNvPr id="32" name="TextBox 31"/>
          <p:cNvSpPr txBox="1"/>
          <p:nvPr/>
        </p:nvSpPr>
        <p:spPr>
          <a:xfrm>
            <a:off x="9793333" y="3867911"/>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33" name="Rectangle 32"/>
          <p:cNvSpPr/>
          <p:nvPr/>
        </p:nvSpPr>
        <p:spPr>
          <a:xfrm>
            <a:off x="658368" y="41788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251959"/>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the susceptibility panel</a:t>
            </a:r>
          </a:p>
        </p:txBody>
      </p:sp>
      <p:sp>
        <p:nvSpPr>
          <p:cNvPr id="35" name="TextBox 34"/>
          <p:cNvSpPr txBox="1"/>
          <p:nvPr/>
        </p:nvSpPr>
        <p:spPr>
          <a:xfrm>
            <a:off x="4355854" y="4251959"/>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one</a:t>
            </a:r>
          </a:p>
        </p:txBody>
      </p:sp>
      <p:sp>
        <p:nvSpPr>
          <p:cNvPr id="36" name="TextBox 35"/>
          <p:cNvSpPr txBox="1"/>
          <p:nvPr/>
        </p:nvSpPr>
        <p:spPr>
          <a:xfrm>
            <a:off x="5443350" y="4251959"/>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1.1%</a:t>
            </a:r>
          </a:p>
        </p:txBody>
      </p:sp>
      <p:sp>
        <p:nvSpPr>
          <p:cNvPr id="37" name="TextBox 36"/>
          <p:cNvSpPr txBox="1"/>
          <p:nvPr/>
        </p:nvSpPr>
        <p:spPr>
          <a:xfrm>
            <a:off x="7509592" y="4251959"/>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91.7%</a:t>
            </a:r>
          </a:p>
        </p:txBody>
      </p:sp>
      <p:sp>
        <p:nvSpPr>
          <p:cNvPr id="38" name="TextBox 37"/>
          <p:cNvSpPr txBox="1"/>
          <p:nvPr/>
        </p:nvSpPr>
        <p:spPr>
          <a:xfrm>
            <a:off x="9793333" y="4251959"/>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8</a:t>
            </a:r>
          </a:p>
        </p:txBody>
      </p:sp>
      <p:sp>
        <p:nvSpPr>
          <p:cNvPr id="39" name="Rectangle 38"/>
          <p:cNvSpPr/>
          <p:nvPr/>
        </p:nvSpPr>
        <p:spPr>
          <a:xfrm>
            <a:off x="658368" y="456285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636007"/>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a second agent arguing</a:t>
            </a:r>
          </a:p>
        </p:txBody>
      </p:sp>
      <p:sp>
        <p:nvSpPr>
          <p:cNvPr id="41" name="TextBox 40"/>
          <p:cNvSpPr txBox="1"/>
          <p:nvPr/>
        </p:nvSpPr>
        <p:spPr>
          <a:xfrm>
            <a:off x="4355854" y="4636007"/>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five</a:t>
            </a:r>
          </a:p>
        </p:txBody>
      </p:sp>
      <p:sp>
        <p:nvSpPr>
          <p:cNvPr id="42" name="TextBox 41"/>
          <p:cNvSpPr txBox="1"/>
          <p:nvPr/>
        </p:nvSpPr>
        <p:spPr>
          <a:xfrm>
            <a:off x="5443350" y="4636007"/>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15.2%</a:t>
            </a:r>
          </a:p>
        </p:txBody>
      </p:sp>
      <p:sp>
        <p:nvSpPr>
          <p:cNvPr id="43" name="TextBox 42"/>
          <p:cNvSpPr txBox="1"/>
          <p:nvPr/>
        </p:nvSpPr>
        <p:spPr>
          <a:xfrm>
            <a:off x="7509592" y="4636007"/>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59.1%</a:t>
            </a:r>
          </a:p>
        </p:txBody>
      </p:sp>
      <p:sp>
        <p:nvSpPr>
          <p:cNvPr id="44" name="TextBox 43"/>
          <p:cNvSpPr txBox="1"/>
          <p:nvPr/>
        </p:nvSpPr>
        <p:spPr>
          <a:xfrm>
            <a:off x="9793333" y="4636007"/>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3</a:t>
            </a:r>
          </a:p>
        </p:txBody>
      </p:sp>
      <p:sp>
        <p:nvSpPr>
          <p:cNvPr id="45" name="TextBox 44"/>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46" name="Rectangle 4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48" name="TextBox 4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80 of 80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80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76.2%</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80 cases, same opening prompt, same formulary, same gate, same scorer. Paired within patient, the debate ends on an inadequate drug where the control ends on an adequate one in 10 pairs and the reverse in 0. Exact McNemar p = 0.00195.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